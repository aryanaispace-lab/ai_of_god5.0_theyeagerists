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7da847c-6156-8bd4-105b-4d41ec49d058}">
          <p14:sldIdLst>
            <p14:sldId id="256"/>
            <p14:sldId id="257"/>
            <p14:sldId id="258"/>
            <p14:sldId id="259"/>
            <p14:sldId id="260"/>
          </p14:sldIdLst>
        </p14:section>
        <p14:section name="Best models" id="{7dc2c86d-a6c8-b7ad-89e5-7013f7404123}">
          <p14:sldIdLst>
            <p14:sldId id="261"/>
            <p14:sldId id="262"/>
            <p14:sldId id="263"/>
            <p14:sldId id="264"/>
          </p14:sldIdLst>
        </p14:section>
        <p14:section name="Experiments" id="{ed78c799-ea0a-788b-791c-fb7da42cee5e}">
          <p14:sldIdLst>
            <p14:sldId id="265"/>
            <p14:sldId id="266"/>
            <p14:sldId id="267"/>
          </p14:sldIdLst>
        </p14:section>
        <p14:section name="Code" id="{eb90cc27-9d08-00b0-f29b-567974a38eb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5-fold macro-F1 (stable across folds)</a:t>
            </a:r>
          </a:p>
        </c:rich>
      </c:tx>
      <c:layout/>
      <c:overlay val="0"/>
    </c:title>
    <c:autoTitleDeleted val="0"/>
    <c:plotArea>
      <c:layout/>
      <c:barChart>
        <c:barDir val="col"/>
        <c:grouping val="clustered"/>
        <c:varyColors val="0"/>
        <c:ser>
          <c:idx val="0"/>
          <c:order val="0"/>
          <c:tx>
            <c:strRef>
              <c:f>Sheet1!$B$1</c:f>
              <c:strCache>
                <c:ptCount val="1"/>
                <c:pt idx="0">
                  <c:v>Macro-F1</c:v>
                </c:pt>
              </c:strCache>
            </c:strRef>
          </c:tx>
          <c:spPr>
            <a:solidFill>
              <a:srgbClr val="0E7C86"/>
            </a:solidFill>
            <a:effectLst/>
          </c:spPr>
          <c:invertIfNegative val="0"/>
          <c:dLbls>
            <c:numFmt formatCode="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Sheet1!$A$2:$A$6</c:f>
              <c:multiLvlStrCache>
                <c:ptCount val="5"/>
                <c:lvl>
                  <c:pt idx="0">
                    <c:v>Fold 1</c:v>
                  </c:pt>
                  <c:pt idx="1">
                    <c:v>Fold 2</c:v>
                  </c:pt>
                  <c:pt idx="2">
                    <c:v>Fold 3</c:v>
                  </c:pt>
                  <c:pt idx="3">
                    <c:v>Fold 4</c:v>
                  </c:pt>
                  <c:pt idx="4">
                    <c:v>Fold 5</c:v>
                  </c:pt>
                </c:lvl>
              </c:multiLvlStrCache>
            </c:multiLvlStrRef>
          </c:cat>
          <c:val>
            <c:numRef>
              <c:f>Sheet1!$B$2:$B$6</c:f>
              <c:numCache>
                <c:formatCode>General</c:formatCode>
                <c:ptCount val="5"/>
                <c:pt idx="0">
                  <c:v>0.9163</c:v>
                </c:pt>
                <c:pt idx="1">
                  <c:v>0.9033</c:v>
                </c:pt>
                <c:pt idx="2">
                  <c:v>0.906</c:v>
                </c:pt>
                <c:pt idx="3">
                  <c:v>0.9212</c:v>
                </c:pt>
                <c:pt idx="4">
                  <c:v>0.9086</c:v>
                </c:pt>
              </c:numCache>
            </c:numRef>
          </c:val>
        </c:ser>
        <c:dLbls>
          <c:numFmt formatCode="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0.94"/>
          <c:min val="0.88"/>
        </c:scaling>
        <c:delete val="0"/>
        <c:axPos val="l"/>
        <c:majorGridlines>
          <c:spPr>
            <a:ln w="6350" cap="flat">
              <a:solidFill>
                <a:srgbClr val="D9D2C5"/>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Validation macro-F1 per epoch (fold 0)</a:t>
            </a:r>
          </a:p>
        </c:rich>
      </c:tx>
      <c:layout/>
      <c:overlay val="0"/>
    </c:title>
    <c:autoTitleDeleted val="0"/>
    <c:plotArea>
      <c:layout/>
      <c:lineChart>
        <c:varyColors val="0"/>
        <c:ser>
          <c:idx val="0"/>
          <c:order val="0"/>
          <c:tx>
            <c:strRef>
              <c:f>Sheet1!$B$1</c:f>
              <c:strCache>
                <c:ptCount val="1"/>
                <c:pt idx="0">
                  <c:v>Val macro-F1</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000" u="none">
                    <a:solidFill>
                      <a:srgbClr val="1B2A41"/>
                    </a:solidFill>
                    <a:latin typeface="+mn-lt"/>
                  </a:defRPr>
                </a:pPr>
              </a:p>
            </c:txPr>
            <c:showLegendKey val="0"/>
            <c:showVal val="0"/>
            <c:showCatName val="0"/>
            <c:showSerName val="0"/>
            <c:showPercent val="0"/>
            <c:showBubbleSize val="0"/>
            <c:showLeaderLines val="0"/>
          </c:dLbls>
          <c:marker>
            <c:symbol val="circle"/>
            <c:size val="6"/>
            <c:spPr>
              <a:solidFill>
                <a:srgbClr val="E4572E"/>
              </a:solidFill>
              <a:ln w="9525" cap="flat">
                <a:solidFill>
                  <a:srgbClr val="E4572E"/>
                </a:solidFill>
                <a:prstDash val="solid"/>
                <a:round/>
              </a:ln>
              <a:effectLst/>
            </c:spPr>
          </c:marker>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0.126</c:v>
                </c:pt>
                <c:pt idx="1">
                  <c:v>0.746</c:v>
                </c:pt>
                <c:pt idx="2">
                  <c:v>0.845</c:v>
                </c:pt>
                <c:pt idx="3">
                  <c:v>0.866</c:v>
                </c:pt>
                <c:pt idx="4">
                  <c:v>0.892</c:v>
                </c:pt>
                <c:pt idx="5">
                  <c:v>0.894</c:v>
                </c:pt>
                <c:pt idx="6">
                  <c:v>0.91</c:v>
                </c:pt>
                <c:pt idx="7">
                  <c:v>0.914</c:v>
                </c:pt>
                <c:pt idx="8">
                  <c:v>0.916</c:v>
                </c:pt>
                <c:pt idx="9">
                  <c:v>0.92</c:v>
                </c:pt>
                <c:pt idx="10">
                  <c:v>0.921</c:v>
                </c:pt>
                <c:pt idx="11">
                  <c:v>0.921</c:v>
                </c:pt>
                <c:pt idx="12">
                  <c:v>0.92</c:v>
                </c:pt>
                <c:pt idx="13">
                  <c:v>0.914</c:v>
                </c:pt>
                <c:pt idx="14">
                  <c:v>0.919</c:v>
                </c:pt>
              </c:numCache>
            </c:numRef>
          </c:val>
          <c:smooth val="0"/>
        </c:ser>
        <c:dLbls>
          <c:numFmt formatCode="#,##0" sourceLinked="0"/>
          <c:txPr>
            <a:bodyPr/>
            <a:lstStyle/>
            <a:p>
              <a:pPr>
                <a:defRPr b="0" i="0" strike="noStrike" sz="1000" u="none">
                  <a:solidFill>
                    <a:srgbClr val="1B2A4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2C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EfficientNet: 10 weakest classes (fold 0)</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F2994A"/>
            </a:solidFill>
            <a:effectLst/>
          </c:spPr>
          <c:invertIfNegative val="0"/>
          <c:dLbls>
            <c:numFmt formatCode="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cat>
            <c:multiLvlStrRef>
              <c:f>Sheet1!$A$2:$A$11</c:f>
              <c:multiLvlStrCache>
                <c:ptCount val="10"/>
                <c:lvl>
                  <c:pt idx="0">
                    <c:v>rat</c:v>
                  </c:pt>
                  <c:pt idx="1">
                    <c:v>squid</c:v>
                  </c:pt>
                  <c:pt idx="2">
                    <c:v>bear</c:v>
                  </c:pt>
                  <c:pt idx="3">
                    <c:v>pig</c:v>
                  </c:pt>
                  <c:pt idx="4">
                    <c:v>parrot</c:v>
                  </c:pt>
                  <c:pt idx="5">
                    <c:v>possum</c:v>
                  </c:pt>
                  <c:pt idx="6">
                    <c:v>swan</c:v>
                  </c:pt>
                  <c:pt idx="7">
                    <c:v>turkey</c:v>
                  </c:pt>
                  <c:pt idx="8">
                    <c:v>whale</c:v>
                  </c:pt>
                  <c:pt idx="9">
                    <c:v>woodpecker</c:v>
                  </c:pt>
                </c:lvl>
              </c:multiLvlStrCache>
            </c:multiLvlStrRef>
          </c:cat>
          <c:val>
            <c:numRef>
              <c:f>Sheet1!$B$2:$B$11</c:f>
              <c:numCache>
                <c:formatCode>General</c:formatCode>
                <c:ptCount val="10"/>
                <c:pt idx="0">
                  <c:v>0.667</c:v>
                </c:pt>
                <c:pt idx="1">
                  <c:v>0.706</c:v>
                </c:pt>
                <c:pt idx="2">
                  <c:v>0.769</c:v>
                </c:pt>
                <c:pt idx="3">
                  <c:v>0.778</c:v>
                </c:pt>
                <c:pt idx="4">
                  <c:v>0.778</c:v>
                </c:pt>
                <c:pt idx="5">
                  <c:v>0.8</c:v>
                </c:pt>
                <c:pt idx="6">
                  <c:v>0.8</c:v>
                </c:pt>
                <c:pt idx="7">
                  <c:v>0.8</c:v>
                </c:pt>
                <c:pt idx="8">
                  <c:v>0.8</c:v>
                </c:pt>
                <c:pt idx="9">
                  <c:v>0.8</c:v>
                </c:pt>
              </c:numCache>
            </c:numRef>
          </c:val>
        </c:ser>
        <c:dLbls>
          <c:numFmt formatCode="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b"/>
        <c:majorGridlines>
          <c:spPr>
            <a:ln w="6350" cap="flat">
              <a:solidFill>
                <a:srgbClr val="D9D2C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Public leaderboard macro-F1</a:t>
            </a:r>
          </a:p>
        </c:rich>
      </c:tx>
      <c:layout/>
      <c:overlay val="0"/>
    </c:title>
    <c:autoTitleDeleted val="0"/>
    <c:plotArea>
      <c:layout/>
      <c:barChart>
        <c:barDir val="bar"/>
        <c:grouping val="clustered"/>
        <c:varyColors val="0"/>
        <c:ser>
          <c:idx val="0"/>
          <c:order val="0"/>
          <c:tx>
            <c:strRef>
              <c:f>Sheet1!$B$1</c:f>
              <c:strCache>
                <c:ptCount val="1"/>
                <c:pt idx="0">
                  <c:v>Public macro-F1</c:v>
                </c:pt>
              </c:strCache>
            </c:strRef>
          </c:tx>
          <c:spPr>
            <a:solidFill>
              <a:srgbClr val="0E7C86"/>
            </a:solidFill>
            <a:effectLst/>
          </c:spPr>
          <c:invertIfNegative val="0"/>
          <c:dLbls>
            <c:numFmt formatCode="0.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0E7C86"/>
              </a:solidFill>
              <a:effectLst/>
            </c:spPr>
          </c:dPt>
          <c:dPt>
            <c:idx val="2"/>
            <c:invertIfNegative val="0"/>
            <c:bubble3D val="0"/>
            <c:spPr>
              <a:solidFill>
                <a:srgbClr val="F2994A"/>
              </a:solidFill>
              <a:effectLst/>
            </c:spPr>
          </c:dPt>
          <c:dPt>
            <c:idx val="3"/>
            <c:invertIfNegative val="0"/>
            <c:bubble3D val="0"/>
            <c:spPr>
              <a:solidFill>
                <a:srgbClr val="E4572E"/>
              </a:solidFill>
              <a:effectLst/>
            </c:spPr>
          </c:dPt>
          <c:cat>
            <c:multiLvlStrRef>
              <c:f>Sheet1!$A$2:$A$5</c:f>
              <c:multiLvlStrCache>
                <c:ptCount val="4"/>
                <c:lvl>
                  <c:pt idx="0">
                    <c:v>EfficientNetV2-S fine-tuned</c:v>
                  </c:pt>
                  <c:pt idx="1">
                    <c:v>DINOv2-B frozen + LR</c:v>
                  </c:pt>
                  <c:pt idx="2">
                    <c:v>DINOv2-L + CLIP + SigLIP frozen ensemble</c:v>
                  </c:pt>
                  <c:pt idx="3">
                    <c:v>ConvNeXt fine-tune</c:v>
                  </c:pt>
                </c:lvl>
              </c:multiLvlStrCache>
            </c:multiLvlStrRef>
          </c:cat>
          <c:val>
            <c:numRef>
              <c:f>Sheet1!$B$2:$B$5</c:f>
              <c:numCache>
                <c:formatCode>General</c:formatCode>
                <c:ptCount val="4"/>
                <c:pt idx="0">
                  <c:v>0.9235</c:v>
                </c:pt>
                <c:pt idx="1">
                  <c:v>0.9231</c:v>
                </c:pt>
                <c:pt idx="2">
                  <c:v>0.898</c:v>
                </c:pt>
                <c:pt idx="3">
                  <c:v>0.8166</c:v>
                </c:pt>
              </c:numCache>
            </c:numRef>
          </c:val>
        </c:ser>
        <c:dLbls>
          <c:numFmt formatCode="0.0000" sourceLinked="0"/>
          <c:txPr>
            <a:bodyPr/>
            <a:lstStyle/>
            <a:p>
              <a:pPr>
                <a:defRPr b="0" i="0" strike="noStrike" sz="10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b"/>
        <c:majorGridlines>
          <c:spPr>
            <a:ln w="6350" cap="flat">
              <a:solidFill>
                <a:srgbClr val="D9D2C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The Yeagerists. The task was to name the animal in an image that has been covered by a coloured segmentation overlay. The two pictures on the right are real training images. In this talk we explain our data checks, the preprocessing, our two best models, and everything else we tried, including the things that did not work. Our best public score so far is 0.9235 macro-F1.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3,087 labelled images, 1,179 test images and 72 classes. The class sizes are not equal. Jellyfish has only 23 training images and raccoon 34, while the biggest classes have 51. The metric is macro F1, so a weak small class hurts as much as a weak big one. The images are a photo with a coloured mask on top, and image sizes vary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training images. Notice that the colour of the overlay changes from image to image, and the data description says colour is not a reliable clue to the class. But the overlay is semi-transparent, so you can still faintly see fur, eyes and feathers underneath. We counted unique colours on a sample of 200 images and found a median of about 1,900, far from a flat mask. Quality varies: some images are clean, some have many blobs, and some are very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models we ran four checks. Size: a random forest using only width, height and aspect ratio got 1.65 percent, basically chance, so there is no size shortcut. Duplicates: an MD5 hash of the raw files found zero exact copies. Shift: we trained a classifier to separate train features from test features and got an AUC of 0.49, which is chance, and the model was equally confident on both. Near-duplicates: about a third of the training images have a very similar neighbour, meaning the same photo or scene may appear more than once. That is why we were careful with cross-validation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the same idea for both models. First we pad each image to a square with grey borders and then resize, so animals are never stretched or cut. DINOv2 uses 224 pixels and EfficientNet uses 320. Then we normalise with the model's own mean and standard deviation. For the fine-tuned EfficientNet we add augmentation during training: a mild random crop, horizontal flip, hue rotation and random channel shuffle. The last two exist only because colour is arbitrary here. At prediction time we average four views of each image: original, flipped, channel-swapped, and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models we compared. DINOv2 is a self-supervised vision transformer from Meta. We use it frozen as a feature extractor, because with about 43 images per class and random colours we wanted shape-based features without training a big network. EfficientNetV2-S is a convolutional network from Google, designed to be accurate and quick to train. We fine-tune all of it so it adapts to tinted images, and it fits easily on a free T4 GPU. ConvNeXt is a modern convolutional network that borrows ideas from transformers. We tried it as a second, different CNN to compare with EfficientNet; in our run it scored 0.8166, so it did not match EfficientNet.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model is deliberately simple. DINOv2 is a vision transformer trained without labels on a huge image collection, and we keep it frozen. Each image becomes a list of 768 numbers. Then we train a standard logistic regression with feature scaling on those numbers. Five-fold cross-validation gave 0.911 on average, and the folds were very consistent, between 0.903 and 0.921. On the public leaderboard it scored 0.9231. The code is the notebook Dinov2-b.ipynb: extract features with timm, then StandardScaler and LogisticRegression.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model is a fine-tuned convolutional network: EfficientNetV2-S, pretrained on ImageNet-21k and fine-tuned on our images at 320 pixels. We train all of its weights with AdamW and a one-cycle learning rate for 15 epochs, using label smoothing and mixed precision. The curve shows it reaches about 0.89 by epoch five and plateaus near 0.92 after epoch ten. This single model was trained on one fold only, so on 80 percent of the data, and it scored 0.9207 on the held-out fold and 0.9235 on the public leaderboard. The code is EfficientNetv2fold1.ipynb.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these simple recipes do well? Our reading is that with around 43 images per class, a strong pretrained model matters more than anything else. DINOv2 features describe shape and parts, so a colour tint does not hurt much, and the EfficientNet is trained with random hue and channel shuffles so it cannot use colour. The chart shows the ten weakest classes for EfficientNet on its validation fold. Rat, swan, whale, pig, parrot and bear showed up as weak in both our EfficientNet and our DINOv2-family results too. We label this as interpretation: we did not run an experiment to prove the cause. Also, each class has only about eight validation images, so single-class numbers are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public leaderboard scores of the experiments we can name. The two top bars are our two best models. The frozen ensemble of bigger models, DINOv2-Large at higher resolution plus CLIP and SigLIP, scored 0.898, which is lower than the simple DINOv2-Base baseline. Our ConvNeXt fine-tune scored 0.8166. The lesson was that more complexity did not automatically help on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experiment was the frozen ensemble. In random 5-fold cross-validation it looked excellent: 0.977, with DINOv2-Large alone at 0.975. But on the leaderboard it scored 0.898, below our simple baseline. Our explanation is that near-duplicate photos in the training set let a strong model look better in cross-validation than it really is on new images. This is a hypothesis; we did not fully prove it. Pseudo-labelling added almost nothing. The ConvNeXt fine-tune did not match EfficientNet in our setup, and the train-versus-test checks showed no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First, always compare validation with the leaderboard; our large ensemble showed how a high cross-validation score can mislead. Second, on small data a strong pretrained model with a simple head or a careful fine-tune beat more complex setups. Third, colour is noise here, so augmenting hue and channels made sense. Fourth, the same classes keep being hard. The last line is honest about what we have not tested yet: averaging five EfficientNet folds with the DINOv2 model, and class weights for the smallest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judges, here are the core lines of both notebooks. Dinov2-b.ipynb creates the frozen DINOv2 model with no classification head, extracts 768 numbers per image, and fits a scaler and logistic regression. EfficientNetv2fold1.ipynb creates EfficientNetV2-S with 72 outputs, trains it with AdamW, a one-cycle schedule, label smoothing and mixed precision, and predicts test images with four-view test-time augmentation. Both write a CSV with image_id and animal_class, and both were validated on held-out folds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walk through either notebook or any of the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754880" cy="17373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1E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500" b="1" dirty="0">
                <a:solidFill>
                  <a:schemeClr val="tx2"/>
                </a:solidFill>
              </a:defRPr>
            </a:lvl1pPr>
          </a:lstStyle>
          <a:p>
            <a:pPr algn="l" indent="0" marL="0">
              <a:buNone/>
            </a:pPr>
            <a:endParaRPr lang="en-US" sz="25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chemeClr val="accent6"/>
                </a:solidFill>
              </a:rPr>
              <a:t>AI of GOD 5.0  |  The Yeagerists</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_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754880" cy="1737360"/>
          </a:xfrm>
          <a:prstGeom prst="rect">
            <a:avLst/>
          </a:prstGeom>
          <a:noFill/>
          <a:ln/>
        </p:spPr>
        <p:txBody>
          <a:bodyPr wrap="square" lIns="0" tIns="0" rIns="0" bIns="0" rtlCol="0" anchor="t"/>
          <a:lstStyle/>
          <a:p>
            <a:pPr indent="0" marL="0">
              <a:buNone/>
            </a:pPr>
            <a:r>
              <a:rPr lang="en-US" sz="3200" b="1" dirty="0">
                <a:solidFill>
                  <a:schemeClr val="bg1"/>
                </a:solidFill>
              </a:rPr>
              <a:t>Teaching a model to see animals through a coloured filter</a:t>
            </a:r>
            <a:endParaRPr lang="en-US" sz="3200" dirty="0"/>
          </a:p>
        </p:txBody>
      </p:sp>
      <p:sp>
        <p:nvSpPr>
          <p:cNvPr id="3" name="Text 1"/>
          <p:cNvSpPr txBox="1"/>
          <p:nvPr/>
        </p:nvSpPr>
        <p:spPr>
          <a:xfrm>
            <a:off x="548640" y="3017520"/>
            <a:ext cx="4754880" cy="320040"/>
          </a:xfrm>
          <a:prstGeom prst="rect">
            <a:avLst/>
          </a:prstGeom>
          <a:noFill/>
          <a:ln/>
        </p:spPr>
        <p:txBody>
          <a:bodyPr wrap="square" lIns="0" tIns="0" rIns="0" bIns="0" rtlCol="0" anchor="t"/>
          <a:lstStyle/>
          <a:p>
            <a:pPr indent="0" marL="0">
              <a:buNone/>
            </a:pPr>
            <a:r>
              <a:rPr lang="en-US" sz="1500" b="1" dirty="0">
                <a:solidFill>
                  <a:schemeClr val="accent2"/>
                </a:solidFill>
              </a:rPr>
              <a:t>AI of GOD 5.0  |  Round 2 presentation</a:t>
            </a:r>
            <a:endParaRPr lang="en-US" sz="1500" dirty="0"/>
          </a:p>
        </p:txBody>
      </p:sp>
      <p:sp>
        <p:nvSpPr>
          <p:cNvPr id="4" name="Text 2"/>
          <p:cNvSpPr txBox="1"/>
          <p:nvPr/>
        </p:nvSpPr>
        <p:spPr>
          <a:xfrm>
            <a:off x="548640" y="3383280"/>
            <a:ext cx="4754880" cy="274320"/>
          </a:xfrm>
          <a:prstGeom prst="rect">
            <a:avLst/>
          </a:prstGeom>
          <a:noFill/>
          <a:ln/>
        </p:spPr>
        <p:txBody>
          <a:bodyPr wrap="square" lIns="0" tIns="0" rIns="0" bIns="0" rtlCol="0" anchor="t"/>
          <a:lstStyle/>
          <a:p>
            <a:pPr indent="0" marL="0">
              <a:buNone/>
            </a:pPr>
            <a:r>
              <a:rPr lang="en-US" sz="1400" b="1" dirty="0">
                <a:solidFill>
                  <a:schemeClr val="bg1"/>
                </a:solidFill>
              </a:rPr>
              <a:t>Team The Yeagerists</a:t>
            </a:r>
            <a:endParaRPr lang="en-US" sz="1400" dirty="0"/>
          </a:p>
        </p:txBody>
      </p:sp>
      <p:sp>
        <p:nvSpPr>
          <p:cNvPr id="5" name="Text 3"/>
          <p:cNvSpPr txBox="1"/>
          <p:nvPr/>
        </p:nvSpPr>
        <p:spPr>
          <a:xfrm>
            <a:off x="548640" y="3675888"/>
            <a:ext cx="4754880" cy="256032"/>
          </a:xfrm>
          <a:prstGeom prst="rect">
            <a:avLst/>
          </a:prstGeom>
          <a:noFill/>
          <a:ln/>
        </p:spPr>
        <p:txBody>
          <a:bodyPr wrap="square" lIns="0" tIns="0" rIns="0" bIns="0" rtlCol="0" anchor="t"/>
          <a:lstStyle/>
          <a:p>
            <a:pPr indent="0" marL="0">
              <a:buNone/>
            </a:pPr>
            <a:r>
              <a:rPr lang="en-US" sz="1300" dirty="0">
                <a:solidFill>
                  <a:schemeClr val="bg1"/>
                </a:solidFill>
              </a:rPr>
              <a:t>Aryan Raj (25JE0322)</a:t>
            </a:r>
            <a:endParaRPr lang="en-US" sz="1300" dirty="0"/>
          </a:p>
        </p:txBody>
      </p:sp>
      <p:sp>
        <p:nvSpPr>
          <p:cNvPr id="6" name="Text 4"/>
          <p:cNvSpPr txBox="1"/>
          <p:nvPr/>
        </p:nvSpPr>
        <p:spPr>
          <a:xfrm>
            <a:off x="548640" y="3950208"/>
            <a:ext cx="4754880" cy="256032"/>
          </a:xfrm>
          <a:prstGeom prst="rect">
            <a:avLst/>
          </a:prstGeom>
          <a:noFill/>
          <a:ln/>
        </p:spPr>
        <p:txBody>
          <a:bodyPr wrap="square" lIns="0" tIns="0" rIns="0" bIns="0" rtlCol="0" anchor="t"/>
          <a:lstStyle/>
          <a:p>
            <a:pPr indent="0" marL="0">
              <a:buNone/>
            </a:pPr>
            <a:r>
              <a:rPr lang="en-US" sz="1300" dirty="0">
                <a:solidFill>
                  <a:schemeClr val="bg1"/>
                </a:solidFill>
              </a:rPr>
              <a:t>Arnesh Upadhyaya (25JE0319)</a:t>
            </a:r>
            <a:endParaRPr lang="en-US" sz="1300" dirty="0"/>
          </a:p>
        </p:txBody>
      </p:sp>
      <p:sp>
        <p:nvSpPr>
          <p:cNvPr id="7" name="Text 5"/>
          <p:cNvSpPr txBox="1"/>
          <p:nvPr/>
        </p:nvSpPr>
        <p:spPr>
          <a:xfrm>
            <a:off x="548640" y="4434840"/>
            <a:ext cx="4754880" cy="274320"/>
          </a:xfrm>
          <a:prstGeom prst="rect">
            <a:avLst/>
          </a:prstGeom>
          <a:noFill/>
          <a:ln/>
        </p:spPr>
        <p:txBody>
          <a:bodyPr wrap="square" lIns="0" tIns="0" rIns="0" bIns="0" rtlCol="0" anchor="t"/>
          <a:lstStyle/>
          <a:p>
            <a:pPr indent="0" marL="0">
              <a:buNone/>
            </a:pPr>
            <a:r>
              <a:rPr lang="en-US" sz="1200" dirty="0">
                <a:solidFill>
                  <a:schemeClr val="accent6"/>
                </a:solidFill>
              </a:rPr>
              <a:t>Best public score so far: 0.9235 macro-F1</a:t>
            </a:r>
            <a:endParaRPr lang="en-US" sz="1200" dirty="0"/>
          </a:p>
        </p:txBody>
      </p:sp>
      <p:pic>
        <p:nvPicPr>
          <p:cNvPr id="8" name="sample bee" descr="img/bee.jpg">    </p:cNvPr>
          <p:cNvPicPr>
            <a:picLocks noChangeAspect="1"/>
          </p:cNvPicPr>
          <p:nvPr/>
        </p:nvPicPr>
        <p:blipFill>
          <a:blip r:embed="rId1"/>
          <a:stretch>
            <a:fillRect/>
          </a:stretch>
        </p:blipFill>
        <p:spPr>
          <a:xfrm>
            <a:off x="5669280" y="502920"/>
            <a:ext cx="3017520" cy="2048256"/>
          </a:xfrm>
          <a:prstGeom prst="rect">
            <a:avLst/>
          </a:prstGeom>
        </p:spPr>
      </p:pic>
      <p:pic>
        <p:nvPicPr>
          <p:cNvPr id="9" name="sample raccoon" descr="img/rac.jpg">    </p:cNvPr>
          <p:cNvPicPr>
            <a:picLocks noChangeAspect="1"/>
          </p:cNvPicPr>
          <p:nvPr/>
        </p:nvPicPr>
        <p:blipFill>
          <a:blip r:embed="rId2"/>
          <a:stretch>
            <a:fillRect/>
          </a:stretch>
        </p:blipFill>
        <p:spPr>
          <a:xfrm>
            <a:off x="5669280" y="2743200"/>
            <a:ext cx="3017520" cy="20025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The task: 72 animals, about 43 photos each</a:t>
            </a:r>
            <a:endParaRPr lang="en-US" sz="2500" dirty="0"/>
          </a:p>
        </p:txBody>
      </p:sp>
      <p:sp>
        <p:nvSpPr>
          <p:cNvPr id="3" name="stat card 1"/>
          <p:cNvSpPr/>
          <p:nvPr/>
        </p:nvSpPr>
        <p:spPr>
          <a:xfrm>
            <a:off x="457200" y="1097280"/>
            <a:ext cx="2606040" cy="1143000"/>
          </a:xfrm>
          <a:prstGeom prst="roundRect">
            <a:avLst>
              <a:gd name="adj" fmla="val 64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188720"/>
            <a:ext cx="2286000" cy="594360"/>
          </a:xfrm>
          <a:prstGeom prst="rect">
            <a:avLst/>
          </a:prstGeom>
          <a:noFill/>
          <a:ln/>
        </p:spPr>
        <p:txBody>
          <a:bodyPr wrap="square" lIns="0" tIns="0" rIns="0" bIns="0" rtlCol="0" anchor="t"/>
          <a:lstStyle/>
          <a:p>
            <a:pPr indent="0" marL="0">
              <a:buNone/>
            </a:pPr>
            <a:r>
              <a:rPr lang="en-US" sz="3200" b="1" dirty="0">
                <a:solidFill>
                  <a:schemeClr val="accent1"/>
                </a:solidFill>
                <a:latin typeface="Georgia" pitchFamily="34" charset="0"/>
                <a:ea typeface="Georgia" pitchFamily="34" charset="-122"/>
                <a:cs typeface="Georgia" pitchFamily="34" charset="-120"/>
              </a:rPr>
              <a:t>3,087</a:t>
            </a:r>
            <a:endParaRPr lang="en-US" sz="3200" dirty="0"/>
          </a:p>
        </p:txBody>
      </p:sp>
      <p:sp>
        <p:nvSpPr>
          <p:cNvPr id="5" name="Text 3"/>
          <p:cNvSpPr txBox="1"/>
          <p:nvPr/>
        </p:nvSpPr>
        <p:spPr>
          <a:xfrm>
            <a:off x="640080" y="1783080"/>
            <a:ext cx="2286000" cy="320040"/>
          </a:xfrm>
          <a:prstGeom prst="rect">
            <a:avLst/>
          </a:prstGeom>
          <a:noFill/>
          <a:ln/>
        </p:spPr>
        <p:txBody>
          <a:bodyPr wrap="square" lIns="0" tIns="0" rIns="0" bIns="0" rtlCol="0" anchor="t"/>
          <a:lstStyle/>
          <a:p>
            <a:pPr indent="0" marL="0">
              <a:buNone/>
            </a:pPr>
            <a:r>
              <a:rPr lang="en-US" sz="1300" dirty="0">
                <a:solidFill>
                  <a:schemeClr val="tx1"/>
                </a:solidFill>
              </a:rPr>
              <a:t>labelled training images</a:t>
            </a:r>
            <a:endParaRPr lang="en-US" sz="1300" dirty="0"/>
          </a:p>
        </p:txBody>
      </p:sp>
      <p:sp>
        <p:nvSpPr>
          <p:cNvPr id="6" name="stat card 2"/>
          <p:cNvSpPr/>
          <p:nvPr/>
        </p:nvSpPr>
        <p:spPr>
          <a:xfrm>
            <a:off x="3246120" y="1097280"/>
            <a:ext cx="2606040" cy="1143000"/>
          </a:xfrm>
          <a:prstGeom prst="roundRect">
            <a:avLst>
              <a:gd name="adj" fmla="val 64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3429000" y="1188720"/>
            <a:ext cx="2286000" cy="594360"/>
          </a:xfrm>
          <a:prstGeom prst="rect">
            <a:avLst/>
          </a:prstGeom>
          <a:noFill/>
          <a:ln/>
        </p:spPr>
        <p:txBody>
          <a:bodyPr wrap="square" lIns="0" tIns="0" rIns="0" bIns="0" rtlCol="0" anchor="t"/>
          <a:lstStyle/>
          <a:p>
            <a:pPr indent="0" marL="0">
              <a:buNone/>
            </a:pPr>
            <a:r>
              <a:rPr lang="en-US" sz="3200" b="1" dirty="0">
                <a:solidFill>
                  <a:schemeClr val="accent1"/>
                </a:solidFill>
                <a:latin typeface="Georgia" pitchFamily="34" charset="0"/>
                <a:ea typeface="Georgia" pitchFamily="34" charset="-122"/>
                <a:cs typeface="Georgia" pitchFamily="34" charset="-120"/>
              </a:rPr>
              <a:t>1,179</a:t>
            </a:r>
            <a:endParaRPr lang="en-US" sz="3200" dirty="0"/>
          </a:p>
        </p:txBody>
      </p:sp>
      <p:sp>
        <p:nvSpPr>
          <p:cNvPr id="8" name="Text 6"/>
          <p:cNvSpPr txBox="1"/>
          <p:nvPr/>
        </p:nvSpPr>
        <p:spPr>
          <a:xfrm>
            <a:off x="3429000" y="1783080"/>
            <a:ext cx="2286000" cy="320040"/>
          </a:xfrm>
          <a:prstGeom prst="rect">
            <a:avLst/>
          </a:prstGeom>
          <a:noFill/>
          <a:ln/>
        </p:spPr>
        <p:txBody>
          <a:bodyPr wrap="square" lIns="0" tIns="0" rIns="0" bIns="0" rtlCol="0" anchor="t"/>
          <a:lstStyle/>
          <a:p>
            <a:pPr indent="0" marL="0">
              <a:buNone/>
            </a:pPr>
            <a:r>
              <a:rPr lang="en-US" sz="1300" dirty="0">
                <a:solidFill>
                  <a:schemeClr val="tx1"/>
                </a:solidFill>
              </a:rPr>
              <a:t>test images to predict</a:t>
            </a:r>
            <a:endParaRPr lang="en-US" sz="1300" dirty="0"/>
          </a:p>
        </p:txBody>
      </p:sp>
      <p:sp>
        <p:nvSpPr>
          <p:cNvPr id="9" name="stat card 3"/>
          <p:cNvSpPr/>
          <p:nvPr/>
        </p:nvSpPr>
        <p:spPr>
          <a:xfrm>
            <a:off x="6035040" y="1097280"/>
            <a:ext cx="2606040" cy="1143000"/>
          </a:xfrm>
          <a:prstGeom prst="roundRect">
            <a:avLst>
              <a:gd name="adj" fmla="val 64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217920" y="1188720"/>
            <a:ext cx="2286000" cy="594360"/>
          </a:xfrm>
          <a:prstGeom prst="rect">
            <a:avLst/>
          </a:prstGeom>
          <a:noFill/>
          <a:ln/>
        </p:spPr>
        <p:txBody>
          <a:bodyPr wrap="square" lIns="0" tIns="0" rIns="0" bIns="0" rtlCol="0" anchor="t"/>
          <a:lstStyle/>
          <a:p>
            <a:pPr indent="0" marL="0">
              <a:buNone/>
            </a:pPr>
            <a:r>
              <a:rPr lang="en-US" sz="3200" b="1" dirty="0">
                <a:solidFill>
                  <a:schemeClr val="accent1"/>
                </a:solidFill>
                <a:latin typeface="Georgia" pitchFamily="34" charset="0"/>
                <a:ea typeface="Georgia" pitchFamily="34" charset="-122"/>
                <a:cs typeface="Georgia" pitchFamily="34" charset="-120"/>
              </a:rPr>
              <a:t>72</a:t>
            </a:r>
            <a:endParaRPr lang="en-US" sz="3200" dirty="0"/>
          </a:p>
        </p:txBody>
      </p:sp>
      <p:sp>
        <p:nvSpPr>
          <p:cNvPr id="11" name="Text 9"/>
          <p:cNvSpPr txBox="1"/>
          <p:nvPr/>
        </p:nvSpPr>
        <p:spPr>
          <a:xfrm>
            <a:off x="6217920" y="1783080"/>
            <a:ext cx="2286000" cy="320040"/>
          </a:xfrm>
          <a:prstGeom prst="rect">
            <a:avLst/>
          </a:prstGeom>
          <a:noFill/>
          <a:ln/>
        </p:spPr>
        <p:txBody>
          <a:bodyPr wrap="square" lIns="0" tIns="0" rIns="0" bIns="0" rtlCol="0" anchor="t"/>
          <a:lstStyle/>
          <a:p>
            <a:pPr indent="0" marL="0">
              <a:buNone/>
            </a:pPr>
            <a:r>
              <a:rPr lang="en-US" sz="1300" dirty="0">
                <a:solidFill>
                  <a:schemeClr val="tx1"/>
                </a:solidFill>
              </a:rPr>
              <a:t>animal classes</a:t>
            </a:r>
            <a:endParaRPr lang="en-US" sz="1300" dirty="0"/>
          </a:p>
        </p:txBody>
      </p:sp>
      <p:sp>
        <p:nvSpPr>
          <p:cNvPr id="12" name="what card"/>
          <p:cNvSpPr/>
          <p:nvPr/>
        </p:nvSpPr>
        <p:spPr>
          <a:xfrm>
            <a:off x="457200" y="2468880"/>
            <a:ext cx="4023360" cy="2148840"/>
          </a:xfrm>
          <a:prstGeom prst="roundRect">
            <a:avLst>
              <a:gd name="adj" fmla="val 340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metric card"/>
          <p:cNvSpPr/>
          <p:nvPr/>
        </p:nvSpPr>
        <p:spPr>
          <a:xfrm>
            <a:off x="4663440" y="2468880"/>
            <a:ext cx="4023360" cy="2148840"/>
          </a:xfrm>
          <a:prstGeom prst="roundRect">
            <a:avLst>
              <a:gd name="adj" fmla="val 3404"/>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40080" y="2578608"/>
            <a:ext cx="3657600" cy="274320"/>
          </a:xfrm>
          <a:prstGeom prst="rect">
            <a:avLst/>
          </a:prstGeom>
          <a:noFill/>
          <a:ln/>
        </p:spPr>
        <p:txBody>
          <a:bodyPr wrap="square" lIns="0" tIns="0" rIns="0" bIns="0" rtlCol="0" anchor="t"/>
          <a:lstStyle/>
          <a:p>
            <a:pPr indent="0" marL="0">
              <a:buNone/>
            </a:pPr>
            <a:r>
              <a:rPr lang="en-US" sz="1500" b="1" dirty="0">
                <a:solidFill>
                  <a:schemeClr val="tx2"/>
                </a:solidFill>
              </a:rPr>
              <a:t>What the images are</a:t>
            </a:r>
            <a:endParaRPr lang="en-US" sz="1500" dirty="0"/>
          </a:p>
        </p:txBody>
      </p:sp>
      <p:sp>
        <p:nvSpPr>
          <p:cNvPr id="15" name="Text 13"/>
          <p:cNvSpPr txBox="1"/>
          <p:nvPr/>
        </p:nvSpPr>
        <p:spPr>
          <a:xfrm>
            <a:off x="640080" y="2926080"/>
            <a:ext cx="365760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real photo with a coloured segmentation overlay on top</a:t>
            </a:r>
            <a:endParaRPr lang="en-US" sz="1300" dirty="0"/>
          </a:p>
          <a:p>
            <a:pPr marL="342900" indent="-342900">
              <a:spcAft>
                <a:spcPts val="600"/>
              </a:spcAft>
              <a:buSzPct val="100000"/>
              <a:buChar char="•"/>
            </a:pPr>
            <a:r>
              <a:rPr lang="en-US" sz="1300" dirty="0">
                <a:solidFill>
                  <a:schemeClr val="tx1"/>
                </a:solidFill>
              </a:rPr>
              <a:t>The original photo is not given separately</a:t>
            </a:r>
            <a:endParaRPr lang="en-US" sz="1300" dirty="0"/>
          </a:p>
          <a:p>
            <a:pPr marL="342900" indent="-342900">
              <a:spcAft>
                <a:spcPts val="600"/>
              </a:spcAft>
              <a:buSzPct val="100000"/>
              <a:buChar char="•"/>
            </a:pPr>
            <a:r>
              <a:rPr lang="en-US" sz="1300" dirty="0">
                <a:solidFill>
                  <a:schemeClr val="tx1"/>
                </a:solidFill>
              </a:rPr>
              <a:t>Sizes from 145 to 4,854 px wide, all 8-bit RGB</a:t>
            </a:r>
            <a:endParaRPr lang="en-US" sz="1300" dirty="0"/>
          </a:p>
        </p:txBody>
      </p:sp>
      <p:sp>
        <p:nvSpPr>
          <p:cNvPr id="16" name="Text 14"/>
          <p:cNvSpPr txBox="1"/>
          <p:nvPr/>
        </p:nvSpPr>
        <p:spPr>
          <a:xfrm>
            <a:off x="4846320" y="2578608"/>
            <a:ext cx="3657600" cy="274320"/>
          </a:xfrm>
          <a:prstGeom prst="rect">
            <a:avLst/>
          </a:prstGeom>
          <a:noFill/>
          <a:ln/>
        </p:spPr>
        <p:txBody>
          <a:bodyPr wrap="square" lIns="0" tIns="0" rIns="0" bIns="0" rtlCol="0" anchor="t"/>
          <a:lstStyle/>
          <a:p>
            <a:pPr indent="0" marL="0">
              <a:buNone/>
            </a:pPr>
            <a:r>
              <a:rPr lang="en-US" sz="1500" b="1" dirty="0">
                <a:solidFill>
                  <a:schemeClr val="tx2"/>
                </a:solidFill>
              </a:rPr>
              <a:t>How we are scored</a:t>
            </a:r>
            <a:endParaRPr lang="en-US" sz="1500" dirty="0"/>
          </a:p>
        </p:txBody>
      </p:sp>
      <p:sp>
        <p:nvSpPr>
          <p:cNvPr id="17" name="Text 15"/>
          <p:cNvSpPr txBox="1"/>
          <p:nvPr/>
        </p:nvSpPr>
        <p:spPr>
          <a:xfrm>
            <a:off x="4846320" y="2926080"/>
            <a:ext cx="365760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Macro-averaged F1: every class counts equally</a:t>
            </a:r>
            <a:endParaRPr lang="en-US" sz="1300" dirty="0"/>
          </a:p>
          <a:p>
            <a:pPr marL="342900" indent="-342900">
              <a:spcAft>
                <a:spcPts val="600"/>
              </a:spcAft>
              <a:buSzPct val="100000"/>
              <a:buChar char="•"/>
            </a:pPr>
            <a:r>
              <a:rPr lang="en-US" sz="1300" dirty="0">
                <a:solidFill>
                  <a:schemeClr val="tx1"/>
                </a:solidFill>
              </a:rPr>
              <a:t>Classes range from 23 images (jellyfish) to 51 images</a:t>
            </a:r>
            <a:endParaRPr lang="en-US" sz="1300" dirty="0"/>
          </a:p>
          <a:p>
            <a:pPr marL="342900" indent="-342900">
              <a:spcAft>
                <a:spcPts val="600"/>
              </a:spcAft>
              <a:buSzPct val="100000"/>
              <a:buChar char="•"/>
            </a:pPr>
            <a:r>
              <a:rPr lang="en-US" sz="1300" dirty="0">
                <a:solidFill>
                  <a:schemeClr val="tx1"/>
                </a:solidFill>
              </a:rPr>
              <a:t>So small classes matter as much as big ones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What the images actually look like</a:t>
            </a:r>
            <a:endParaRPr lang="en-US" sz="2500" dirty="0"/>
          </a:p>
        </p:txBody>
      </p:sp>
      <p:pic>
        <p:nvPicPr>
          <p:cNvPr id="3" name="sample bee" descr="img/bee.jpg">    </p:cNvPr>
          <p:cNvPicPr>
            <a:picLocks noChangeAspect="1"/>
          </p:cNvPicPr>
          <p:nvPr/>
        </p:nvPicPr>
        <p:blipFill>
          <a:blip r:embed="rId1"/>
          <a:stretch>
            <a:fillRect/>
          </a:stretch>
        </p:blipFill>
        <p:spPr>
          <a:xfrm>
            <a:off x="731520" y="1051560"/>
            <a:ext cx="1685925" cy="1143000"/>
          </a:xfrm>
          <a:prstGeom prst="rect">
            <a:avLst/>
          </a:prstGeom>
        </p:spPr>
      </p:pic>
      <p:pic>
        <p:nvPicPr>
          <p:cNvPr id="4" name="sample bird" descr="img/bird.jpg">    </p:cNvPr>
          <p:cNvPicPr>
            <a:picLocks noChangeAspect="1"/>
          </p:cNvPicPr>
          <p:nvPr/>
        </p:nvPicPr>
        <p:blipFill>
          <a:blip r:embed="rId2"/>
          <a:stretch>
            <a:fillRect/>
          </a:stretch>
        </p:blipFill>
        <p:spPr>
          <a:xfrm>
            <a:off x="2600325" y="1051560"/>
            <a:ext cx="2032254" cy="1143000"/>
          </a:xfrm>
          <a:prstGeom prst="rect">
            <a:avLst/>
          </a:prstGeom>
        </p:spPr>
      </p:pic>
      <p:pic>
        <p:nvPicPr>
          <p:cNvPr id="5" name="sample star" descr="img/star.jpg">    </p:cNvPr>
          <p:cNvPicPr>
            <a:picLocks noChangeAspect="1"/>
          </p:cNvPicPr>
          <p:nvPr/>
        </p:nvPicPr>
        <p:blipFill>
          <a:blip r:embed="rId3"/>
          <a:stretch>
            <a:fillRect/>
          </a:stretch>
        </p:blipFill>
        <p:spPr>
          <a:xfrm>
            <a:off x="4815459" y="1051560"/>
            <a:ext cx="1698498" cy="1143000"/>
          </a:xfrm>
          <a:prstGeom prst="rect">
            <a:avLst/>
          </a:prstGeom>
        </p:spPr>
      </p:pic>
      <p:pic>
        <p:nvPicPr>
          <p:cNvPr id="6" name="sample rac" descr="img/rac.jpg">    </p:cNvPr>
          <p:cNvPicPr>
            <a:picLocks noChangeAspect="1"/>
          </p:cNvPicPr>
          <p:nvPr/>
        </p:nvPicPr>
        <p:blipFill>
          <a:blip r:embed="rId4"/>
          <a:stretch>
            <a:fillRect/>
          </a:stretch>
        </p:blipFill>
        <p:spPr>
          <a:xfrm>
            <a:off x="6696837" y="1051560"/>
            <a:ext cx="1725930" cy="1143000"/>
          </a:xfrm>
          <a:prstGeom prst="rect">
            <a:avLst/>
          </a:prstGeom>
        </p:spPr>
      </p:pic>
      <p:sp>
        <p:nvSpPr>
          <p:cNvPr id="7" name="Text 1"/>
          <p:cNvSpPr txBox="1"/>
          <p:nvPr/>
        </p:nvSpPr>
        <p:spPr>
          <a:xfrm>
            <a:off x="731520" y="2240280"/>
            <a:ext cx="7680960" cy="274320"/>
          </a:xfrm>
          <a:prstGeom prst="rect">
            <a:avLst/>
          </a:prstGeom>
          <a:noFill/>
          <a:ln/>
        </p:spPr>
        <p:txBody>
          <a:bodyPr wrap="square" lIns="0" tIns="0" rIns="0" bIns="0" rtlCol="0" anchor="t"/>
          <a:lstStyle/>
          <a:p>
            <a:pPr indent="0" marL="0">
              <a:buNone/>
            </a:pPr>
            <a:r>
              <a:rPr lang="en-US" sz="1100" i="1" dirty="0">
                <a:solidFill>
                  <a:schemeClr val="accent6"/>
                </a:solidFill>
              </a:rPr>
              <a:t>Four random training images: the tint colour is different every time</a:t>
            </a:r>
            <a:endParaRPr lang="en-US" sz="1100" dirty="0"/>
          </a:p>
        </p:txBody>
      </p:sp>
      <p:sp>
        <p:nvSpPr>
          <p:cNvPr id="8" name="note card 1"/>
          <p:cNvSpPr/>
          <p:nvPr/>
        </p:nvSpPr>
        <p:spPr>
          <a:xfrm>
            <a:off x="457200" y="2651760"/>
            <a:ext cx="2606040" cy="2011680"/>
          </a:xfrm>
          <a:prstGeom prst="roundRect">
            <a:avLst>
              <a:gd name="adj" fmla="val 363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Text 3"/>
          <p:cNvSpPr txBox="1"/>
          <p:nvPr/>
        </p:nvSpPr>
        <p:spPr>
          <a:xfrm>
            <a:off x="594360" y="2743200"/>
            <a:ext cx="2331720" cy="274320"/>
          </a:xfrm>
          <a:prstGeom prst="rect">
            <a:avLst/>
          </a:prstGeom>
          <a:noFill/>
          <a:ln/>
        </p:spPr>
        <p:txBody>
          <a:bodyPr wrap="square" lIns="0" tIns="0" rIns="0" bIns="0" rtlCol="0" anchor="t"/>
          <a:lstStyle/>
          <a:p>
            <a:pPr indent="0" marL="0">
              <a:buNone/>
            </a:pPr>
            <a:r>
              <a:rPr lang="en-US" sz="1400" b="1" dirty="0">
                <a:solidFill>
                  <a:schemeClr val="accent1"/>
                </a:solidFill>
              </a:rPr>
              <a:t>Colour is arbitrary</a:t>
            </a:r>
            <a:endParaRPr lang="en-US" sz="1400" dirty="0"/>
          </a:p>
        </p:txBody>
      </p:sp>
      <p:sp>
        <p:nvSpPr>
          <p:cNvPr id="10" name="Text 4"/>
          <p:cNvSpPr txBox="1"/>
          <p:nvPr/>
        </p:nvSpPr>
        <p:spPr>
          <a:xfrm>
            <a:off x="594360" y="3090672"/>
            <a:ext cx="2331720" cy="1508760"/>
          </a:xfrm>
          <a:prstGeom prst="rect">
            <a:avLst/>
          </a:prstGeom>
          <a:noFill/>
          <a:ln/>
        </p:spPr>
        <p:txBody>
          <a:bodyPr wrap="square" lIns="0" tIns="0" rIns="0" bIns="0" rtlCol="0" anchor="t"/>
          <a:lstStyle/>
          <a:p>
            <a:pPr indent="0" marL="0">
              <a:buNone/>
            </a:pPr>
            <a:r>
              <a:rPr lang="en-US" sz="1200" dirty="0">
                <a:solidFill>
                  <a:schemeClr val="tx1"/>
                </a:solidFill>
              </a:rPr>
              <a:t>The same animal can be purple, green or blue. Colour carries no class information, so we treated it as noise.</a:t>
            </a:r>
            <a:endParaRPr lang="en-US" sz="1200" dirty="0"/>
          </a:p>
        </p:txBody>
      </p:sp>
      <p:sp>
        <p:nvSpPr>
          <p:cNvPr id="11" name="note card 2"/>
          <p:cNvSpPr/>
          <p:nvPr/>
        </p:nvSpPr>
        <p:spPr>
          <a:xfrm>
            <a:off x="3246120" y="2651760"/>
            <a:ext cx="2606040" cy="2011680"/>
          </a:xfrm>
          <a:prstGeom prst="roundRect">
            <a:avLst>
              <a:gd name="adj" fmla="val 363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Text 6"/>
          <p:cNvSpPr txBox="1"/>
          <p:nvPr/>
        </p:nvSpPr>
        <p:spPr>
          <a:xfrm>
            <a:off x="3383280" y="2743200"/>
            <a:ext cx="2331720" cy="274320"/>
          </a:xfrm>
          <a:prstGeom prst="rect">
            <a:avLst/>
          </a:prstGeom>
          <a:noFill/>
          <a:ln/>
        </p:spPr>
        <p:txBody>
          <a:bodyPr wrap="square" lIns="0" tIns="0" rIns="0" bIns="0" rtlCol="0" anchor="t"/>
          <a:lstStyle/>
          <a:p>
            <a:pPr indent="0" marL="0">
              <a:buNone/>
            </a:pPr>
            <a:r>
              <a:rPr lang="en-US" sz="1400" b="1" dirty="0">
                <a:solidFill>
                  <a:schemeClr val="accent1"/>
                </a:solidFill>
              </a:rPr>
              <a:t>Photo detail shows through</a:t>
            </a:r>
            <a:endParaRPr lang="en-US" sz="1400" dirty="0"/>
          </a:p>
        </p:txBody>
      </p:sp>
      <p:sp>
        <p:nvSpPr>
          <p:cNvPr id="13" name="Text 7"/>
          <p:cNvSpPr txBox="1"/>
          <p:nvPr/>
        </p:nvSpPr>
        <p:spPr>
          <a:xfrm>
            <a:off x="3383280" y="3090672"/>
            <a:ext cx="2331720" cy="1508760"/>
          </a:xfrm>
          <a:prstGeom prst="rect">
            <a:avLst/>
          </a:prstGeom>
          <a:noFill/>
          <a:ln/>
        </p:spPr>
        <p:txBody>
          <a:bodyPr wrap="square" lIns="0" tIns="0" rIns="0" bIns="0" rtlCol="0" anchor="t"/>
          <a:lstStyle/>
          <a:p>
            <a:pPr indent="0" marL="0">
              <a:buNone/>
            </a:pPr>
            <a:r>
              <a:rPr lang="en-US" sz="1200" dirty="0">
                <a:solidFill>
                  <a:schemeClr val="tx1"/>
                </a:solidFill>
              </a:rPr>
              <a:t>Fur, eyes and feathers are faintly visible. A sample of 200 train images had a median of about 1,900 unique colours (min 174, max 18,792), so these are not flat masks.</a:t>
            </a:r>
            <a:endParaRPr lang="en-US" sz="1200" dirty="0"/>
          </a:p>
        </p:txBody>
      </p:sp>
      <p:sp>
        <p:nvSpPr>
          <p:cNvPr id="14" name="note card 3"/>
          <p:cNvSpPr/>
          <p:nvPr/>
        </p:nvSpPr>
        <p:spPr>
          <a:xfrm>
            <a:off x="6035040" y="2651760"/>
            <a:ext cx="2606040" cy="2011680"/>
          </a:xfrm>
          <a:prstGeom prst="roundRect">
            <a:avLst>
              <a:gd name="adj" fmla="val 363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Text 9"/>
          <p:cNvSpPr txBox="1"/>
          <p:nvPr/>
        </p:nvSpPr>
        <p:spPr>
          <a:xfrm>
            <a:off x="6172200" y="2743200"/>
            <a:ext cx="2331720" cy="274320"/>
          </a:xfrm>
          <a:prstGeom prst="rect">
            <a:avLst/>
          </a:prstGeom>
          <a:noFill/>
          <a:ln/>
        </p:spPr>
        <p:txBody>
          <a:bodyPr wrap="square" lIns="0" tIns="0" rIns="0" bIns="0" rtlCol="0" anchor="t"/>
          <a:lstStyle/>
          <a:p>
            <a:pPr indent="0" marL="0">
              <a:buNone/>
            </a:pPr>
            <a:r>
              <a:rPr lang="en-US" sz="1400" b="1" dirty="0">
                <a:solidFill>
                  <a:schemeClr val="accent1"/>
                </a:solidFill>
              </a:rPr>
              <a:t>Quality varies a lot</a:t>
            </a:r>
            <a:endParaRPr lang="en-US" sz="1400" dirty="0"/>
          </a:p>
        </p:txBody>
      </p:sp>
      <p:sp>
        <p:nvSpPr>
          <p:cNvPr id="16" name="Text 10"/>
          <p:cNvSpPr txBox="1"/>
          <p:nvPr/>
        </p:nvSpPr>
        <p:spPr>
          <a:xfrm>
            <a:off x="6172200" y="3090672"/>
            <a:ext cx="2331720" cy="1508760"/>
          </a:xfrm>
          <a:prstGeom prst="rect">
            <a:avLst/>
          </a:prstGeom>
          <a:noFill/>
          <a:ln/>
        </p:spPr>
        <p:txBody>
          <a:bodyPr wrap="square" lIns="0" tIns="0" rIns="0" bIns="0" rtlCol="0" anchor="t"/>
          <a:lstStyle/>
          <a:p>
            <a:pPr indent="0" marL="0">
              <a:buNone/>
            </a:pPr>
            <a:r>
              <a:rPr lang="en-US" sz="1200" dirty="0">
                <a:solidFill>
                  <a:schemeClr val="tx1"/>
                </a:solidFill>
              </a:rPr>
              <a:t>Some images are a clean animal-vs-background, others have many coloured blobs, tight crops, or are tiny (about 300 x 170 px).</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What we checked before modelling</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03120"/>
                <a:gridCol w="3840480"/>
                <a:gridCol w="2286000"/>
              </a:tblGrid>
              <a:tr h="320040">
                <a:tc>
                  <a:txBody>
                    <a:bodyPr/>
                    <a:lstStyle/>
                    <a:p>
                      <a:pPr indent="0" marL="0">
                        <a:buNone/>
                      </a:pPr>
                      <a:r>
                        <a:rPr lang="en-US" sz="1200" b="1" dirty="0">
                          <a:solidFill>
                            <a:schemeClr val="bg1"/>
                          </a:solidFill>
                        </a:rPr>
                        <a:t>Question</a:t>
                      </a:r>
                      <a:endParaRPr lang="en-US" sz="1200" dirty="0"/>
                    </a:p>
                  </a:txBody>
                  <a:tcPr marL="91440" marR="91440" marT="45720" marB="45720">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we found</a:t>
                      </a:r>
                      <a:endParaRPr lang="en-US" sz="1200" dirty="0"/>
                    </a:p>
                  </a:txBody>
                  <a:tcPr marL="91440" marR="91440" marT="45720" marB="45720">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we did</a:t>
                      </a:r>
                      <a:endParaRPr lang="en-US" sz="1200" dirty="0"/>
                    </a:p>
                  </a:txBody>
                  <a:tcPr marL="91440" marR="91440" marT="45720" marB="45720">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tx2"/>
                    </a:solidFill>
                  </a:tcPr>
                </a:tc>
              </a:tr>
              <a:tr h="640080">
                <a:tc>
                  <a:txBody>
                    <a:bodyPr/>
                    <a:lstStyle/>
                    <a:p>
                      <a:pPr indent="0" marL="0">
                        <a:buNone/>
                      </a:pPr>
                      <a:r>
                        <a:rPr lang="en-US" sz="1150" b="1" dirty="0">
                          <a:solidFill>
                            <a:schemeClr val="tx1"/>
                          </a:solidFill>
                        </a:rPr>
                        <a:t>Does image size reveal the class?</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Random forest on width, height, aspect: 1.65% accuracy vs 1.39% for random guessing</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Nothing to exploit. Resize everything the same way</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502920">
                <a:tc>
                  <a:txBody>
                    <a:bodyPr/>
                    <a:lstStyle/>
                    <a:p>
                      <a:pPr indent="0" marL="0">
                        <a:buNone/>
                      </a:pPr>
                      <a:r>
                        <a:rPr lang="en-US" sz="1150" b="1" dirty="0">
                          <a:solidFill>
                            <a:schemeClr val="tx1"/>
                          </a:solidFill>
                        </a:rPr>
                        <a:t>Exact duplicate files?</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0 inside train, 0 between train and test (MD5 hash)</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Nothing to remove</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r>
              <a:tr h="777240">
                <a:tc>
                  <a:txBody>
                    <a:bodyPr/>
                    <a:lstStyle/>
                    <a:p>
                      <a:pPr indent="0" marL="0">
                        <a:buNone/>
                      </a:pPr>
                      <a:r>
                        <a:rPr lang="en-US" sz="1150" b="1" dirty="0">
                          <a:solidFill>
                            <a:schemeClr val="tx1"/>
                          </a:solidFill>
                        </a:rPr>
                        <a:t>Does test look different from train?</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 classifier could not tell them apart (AUC 0.49). Mean confidence 0.908 on validation vs 0.903 on test</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No domain shift to correct</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731520">
                <a:tc>
                  <a:txBody>
                    <a:bodyPr/>
                    <a:lstStyle/>
                    <a:p>
                      <a:pPr indent="0" marL="0">
                        <a:buNone/>
                      </a:pPr>
                      <a:r>
                        <a:rPr lang="en-US" sz="1150" b="1" dirty="0">
                          <a:solidFill>
                            <a:schemeClr val="tx1"/>
                          </a:solidFill>
                        </a:rPr>
                        <a:t>Near-duplicate photos?</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32.8% of train images have a neighbour with cosine similarity above 0.8 (test to train: 29.3%)</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Treat random-fold CV with care</a:t>
                      </a:r>
                      <a:endParaRPr lang="en-US" sz="115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Preprocessing: keep the whole animal</a:t>
            </a:r>
            <a:endParaRPr lang="en-US" sz="2500" dirty="0"/>
          </a:p>
        </p:txBody>
      </p:sp>
      <p:sp>
        <p:nvSpPr>
          <p:cNvPr id="3" name="step 1"/>
          <p:cNvSpPr/>
          <p:nvPr/>
        </p:nvSpPr>
        <p:spPr>
          <a:xfrm>
            <a:off x="457200" y="1097280"/>
            <a:ext cx="1874520" cy="1051560"/>
          </a:xfrm>
          <a:prstGeom prst="roundRect">
            <a:avLst>
              <a:gd name="adj" fmla="val 69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66928" y="1170432"/>
            <a:ext cx="1691640" cy="274320"/>
          </a:xfrm>
          <a:prstGeom prst="rect">
            <a:avLst/>
          </a:prstGeom>
          <a:noFill/>
          <a:ln/>
        </p:spPr>
        <p:txBody>
          <a:bodyPr wrap="square" lIns="0" tIns="0" rIns="0" bIns="0" rtlCol="0" anchor="t"/>
          <a:lstStyle/>
          <a:p>
            <a:pPr indent="0" marL="0">
              <a:buNone/>
            </a:pPr>
            <a:r>
              <a:rPr lang="en-US" sz="1400" b="1" dirty="0">
                <a:solidFill>
                  <a:schemeClr val="accent1"/>
                </a:solidFill>
              </a:rPr>
              <a:t>1  Read</a:t>
            </a:r>
            <a:endParaRPr lang="en-US" sz="1400" dirty="0"/>
          </a:p>
        </p:txBody>
      </p:sp>
      <p:sp>
        <p:nvSpPr>
          <p:cNvPr id="5" name="Text 3"/>
          <p:cNvSpPr txBox="1"/>
          <p:nvPr/>
        </p:nvSpPr>
        <p:spPr>
          <a:xfrm>
            <a:off x="566928" y="1481328"/>
            <a:ext cx="1691640" cy="594360"/>
          </a:xfrm>
          <a:prstGeom prst="rect">
            <a:avLst/>
          </a:prstGeom>
          <a:noFill/>
          <a:ln/>
        </p:spPr>
        <p:txBody>
          <a:bodyPr wrap="square" lIns="0" tIns="0" rIns="0" bIns="0" rtlCol="0" anchor="t"/>
          <a:lstStyle/>
          <a:p>
            <a:pPr indent="0" marL="0">
              <a:buNone/>
            </a:pPr>
            <a:r>
              <a:rPr lang="en-US" sz="1150" dirty="0">
                <a:solidFill>
                  <a:schemeClr val="tx1"/>
                </a:solidFill>
              </a:rPr>
              <a:t>RGB image, any size</a:t>
            </a:r>
            <a:endParaRPr lang="en-US" sz="1150" dirty="0"/>
          </a:p>
        </p:txBody>
      </p:sp>
      <p:sp>
        <p:nvSpPr>
          <p:cNvPr id="6" name="Text 4"/>
          <p:cNvSpPr txBox="1"/>
          <p:nvPr/>
        </p:nvSpPr>
        <p:spPr>
          <a:xfrm>
            <a:off x="2331720" y="1371600"/>
            <a:ext cx="228600" cy="365760"/>
          </a:xfrm>
          <a:prstGeom prst="rect">
            <a:avLst/>
          </a:prstGeom>
          <a:noFill/>
          <a:ln/>
        </p:spPr>
        <p:txBody>
          <a:bodyPr wrap="square" lIns="0" tIns="0" rIns="0" bIns="0" rtlCol="0" anchor="ctr"/>
          <a:lstStyle/>
          <a:p>
            <a:pPr algn="ctr" indent="0" marL="0">
              <a:buNone/>
            </a:pPr>
            <a:r>
              <a:rPr lang="en-US" sz="1800" b="1" dirty="0">
                <a:solidFill>
                  <a:schemeClr val="accent2"/>
                </a:solidFill>
              </a:rPr>
              <a:t>&gt;</a:t>
            </a:r>
            <a:endParaRPr lang="en-US" sz="1800" dirty="0"/>
          </a:p>
        </p:txBody>
      </p:sp>
      <p:sp>
        <p:nvSpPr>
          <p:cNvPr id="7" name="step 2"/>
          <p:cNvSpPr/>
          <p:nvPr/>
        </p:nvSpPr>
        <p:spPr>
          <a:xfrm>
            <a:off x="2560320" y="1097280"/>
            <a:ext cx="1874520" cy="1051560"/>
          </a:xfrm>
          <a:prstGeom prst="roundRect">
            <a:avLst>
              <a:gd name="adj" fmla="val 69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2670048" y="1170432"/>
            <a:ext cx="1691640" cy="274320"/>
          </a:xfrm>
          <a:prstGeom prst="rect">
            <a:avLst/>
          </a:prstGeom>
          <a:noFill/>
          <a:ln/>
        </p:spPr>
        <p:txBody>
          <a:bodyPr wrap="square" lIns="0" tIns="0" rIns="0" bIns="0" rtlCol="0" anchor="t"/>
          <a:lstStyle/>
          <a:p>
            <a:pPr indent="0" marL="0">
              <a:buNone/>
            </a:pPr>
            <a:r>
              <a:rPr lang="en-US" sz="1400" b="1" dirty="0">
                <a:solidFill>
                  <a:schemeClr val="accent1"/>
                </a:solidFill>
              </a:rPr>
              <a:t>2  Pad to square</a:t>
            </a:r>
            <a:endParaRPr lang="en-US" sz="1400" dirty="0"/>
          </a:p>
        </p:txBody>
      </p:sp>
      <p:sp>
        <p:nvSpPr>
          <p:cNvPr id="9" name="Text 7"/>
          <p:cNvSpPr txBox="1"/>
          <p:nvPr/>
        </p:nvSpPr>
        <p:spPr>
          <a:xfrm>
            <a:off x="2670048" y="1481328"/>
            <a:ext cx="1691640" cy="594360"/>
          </a:xfrm>
          <a:prstGeom prst="rect">
            <a:avLst/>
          </a:prstGeom>
          <a:noFill/>
          <a:ln/>
        </p:spPr>
        <p:txBody>
          <a:bodyPr wrap="square" lIns="0" tIns="0" rIns="0" bIns="0" rtlCol="0" anchor="t"/>
          <a:lstStyle/>
          <a:p>
            <a:pPr indent="0" marL="0">
              <a:buNone/>
            </a:pPr>
            <a:r>
              <a:rPr lang="en-US" sz="1150" dirty="0">
                <a:solidFill>
                  <a:schemeClr val="tx1"/>
                </a:solidFill>
              </a:rPr>
              <a:t>grey borders, no stretching</a:t>
            </a:r>
            <a:endParaRPr lang="en-US" sz="1150" dirty="0"/>
          </a:p>
        </p:txBody>
      </p:sp>
      <p:sp>
        <p:nvSpPr>
          <p:cNvPr id="10" name="Text 8"/>
          <p:cNvSpPr txBox="1"/>
          <p:nvPr/>
        </p:nvSpPr>
        <p:spPr>
          <a:xfrm>
            <a:off x="4434840" y="1371600"/>
            <a:ext cx="228600" cy="365760"/>
          </a:xfrm>
          <a:prstGeom prst="rect">
            <a:avLst/>
          </a:prstGeom>
          <a:noFill/>
          <a:ln/>
        </p:spPr>
        <p:txBody>
          <a:bodyPr wrap="square" lIns="0" tIns="0" rIns="0" bIns="0" rtlCol="0" anchor="ctr"/>
          <a:lstStyle/>
          <a:p>
            <a:pPr algn="ctr" indent="0" marL="0">
              <a:buNone/>
            </a:pPr>
            <a:r>
              <a:rPr lang="en-US" sz="1800" b="1" dirty="0">
                <a:solidFill>
                  <a:schemeClr val="accent2"/>
                </a:solidFill>
              </a:rPr>
              <a:t>&gt;</a:t>
            </a:r>
            <a:endParaRPr lang="en-US" sz="1800" dirty="0"/>
          </a:p>
        </p:txBody>
      </p:sp>
      <p:sp>
        <p:nvSpPr>
          <p:cNvPr id="11" name="step 3"/>
          <p:cNvSpPr/>
          <p:nvPr/>
        </p:nvSpPr>
        <p:spPr>
          <a:xfrm>
            <a:off x="4663440" y="1097280"/>
            <a:ext cx="1874520" cy="1051560"/>
          </a:xfrm>
          <a:prstGeom prst="roundRect">
            <a:avLst>
              <a:gd name="adj" fmla="val 69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4773168" y="1170432"/>
            <a:ext cx="1691640" cy="274320"/>
          </a:xfrm>
          <a:prstGeom prst="rect">
            <a:avLst/>
          </a:prstGeom>
          <a:noFill/>
          <a:ln/>
        </p:spPr>
        <p:txBody>
          <a:bodyPr wrap="square" lIns="0" tIns="0" rIns="0" bIns="0" rtlCol="0" anchor="t"/>
          <a:lstStyle/>
          <a:p>
            <a:pPr indent="0" marL="0">
              <a:buNone/>
            </a:pPr>
            <a:r>
              <a:rPr lang="en-US" sz="1400" b="1" dirty="0">
                <a:solidFill>
                  <a:schemeClr val="accent1"/>
                </a:solidFill>
              </a:rPr>
              <a:t>3  Resize</a:t>
            </a:r>
            <a:endParaRPr lang="en-US" sz="1400" dirty="0"/>
          </a:p>
        </p:txBody>
      </p:sp>
      <p:sp>
        <p:nvSpPr>
          <p:cNvPr id="13" name="Text 11"/>
          <p:cNvSpPr txBox="1"/>
          <p:nvPr/>
        </p:nvSpPr>
        <p:spPr>
          <a:xfrm>
            <a:off x="4773168" y="1481328"/>
            <a:ext cx="1691640" cy="594360"/>
          </a:xfrm>
          <a:prstGeom prst="rect">
            <a:avLst/>
          </a:prstGeom>
          <a:noFill/>
          <a:ln/>
        </p:spPr>
        <p:txBody>
          <a:bodyPr wrap="square" lIns="0" tIns="0" rIns="0" bIns="0" rtlCol="0" anchor="t"/>
          <a:lstStyle/>
          <a:p>
            <a:pPr indent="0" marL="0">
              <a:buNone/>
            </a:pPr>
            <a:r>
              <a:rPr lang="en-US" sz="1150" dirty="0">
                <a:solidFill>
                  <a:schemeClr val="tx1"/>
                </a:solidFill>
              </a:rPr>
              <a:t>224 px (DINOv2)  |  320 px (EfficientNet)</a:t>
            </a:r>
            <a:endParaRPr lang="en-US" sz="1150" dirty="0"/>
          </a:p>
        </p:txBody>
      </p:sp>
      <p:sp>
        <p:nvSpPr>
          <p:cNvPr id="14" name="Text 12"/>
          <p:cNvSpPr txBox="1"/>
          <p:nvPr/>
        </p:nvSpPr>
        <p:spPr>
          <a:xfrm>
            <a:off x="6537960" y="1371600"/>
            <a:ext cx="228600" cy="365760"/>
          </a:xfrm>
          <a:prstGeom prst="rect">
            <a:avLst/>
          </a:prstGeom>
          <a:noFill/>
          <a:ln/>
        </p:spPr>
        <p:txBody>
          <a:bodyPr wrap="square" lIns="0" tIns="0" rIns="0" bIns="0" rtlCol="0" anchor="ctr"/>
          <a:lstStyle/>
          <a:p>
            <a:pPr algn="ctr" indent="0" marL="0">
              <a:buNone/>
            </a:pPr>
            <a:r>
              <a:rPr lang="en-US" sz="1800" b="1" dirty="0">
                <a:solidFill>
                  <a:schemeClr val="accent2"/>
                </a:solidFill>
              </a:rPr>
              <a:t>&gt;</a:t>
            </a:r>
            <a:endParaRPr lang="en-US" sz="1800" dirty="0"/>
          </a:p>
        </p:txBody>
      </p:sp>
      <p:sp>
        <p:nvSpPr>
          <p:cNvPr id="15" name="step 4"/>
          <p:cNvSpPr/>
          <p:nvPr/>
        </p:nvSpPr>
        <p:spPr>
          <a:xfrm>
            <a:off x="6766560" y="1097280"/>
            <a:ext cx="1874520" cy="1051560"/>
          </a:xfrm>
          <a:prstGeom prst="roundRect">
            <a:avLst>
              <a:gd name="adj" fmla="val 69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876288" y="1170432"/>
            <a:ext cx="1691640" cy="274320"/>
          </a:xfrm>
          <a:prstGeom prst="rect">
            <a:avLst/>
          </a:prstGeom>
          <a:noFill/>
          <a:ln/>
        </p:spPr>
        <p:txBody>
          <a:bodyPr wrap="square" lIns="0" tIns="0" rIns="0" bIns="0" rtlCol="0" anchor="t"/>
          <a:lstStyle/>
          <a:p>
            <a:pPr indent="0" marL="0">
              <a:buNone/>
            </a:pPr>
            <a:r>
              <a:rPr lang="en-US" sz="1400" b="1" dirty="0">
                <a:solidFill>
                  <a:schemeClr val="accent1"/>
                </a:solidFill>
              </a:rPr>
              <a:t>4  Normalise</a:t>
            </a:r>
            <a:endParaRPr lang="en-US" sz="1400" dirty="0"/>
          </a:p>
        </p:txBody>
      </p:sp>
      <p:sp>
        <p:nvSpPr>
          <p:cNvPr id="17" name="Text 15"/>
          <p:cNvSpPr txBox="1"/>
          <p:nvPr/>
        </p:nvSpPr>
        <p:spPr>
          <a:xfrm>
            <a:off x="6876288" y="1481328"/>
            <a:ext cx="1691640" cy="594360"/>
          </a:xfrm>
          <a:prstGeom prst="rect">
            <a:avLst/>
          </a:prstGeom>
          <a:noFill/>
          <a:ln/>
        </p:spPr>
        <p:txBody>
          <a:bodyPr wrap="square" lIns="0" tIns="0" rIns="0" bIns="0" rtlCol="0" anchor="t"/>
          <a:lstStyle/>
          <a:p>
            <a:pPr indent="0" marL="0">
              <a:buNone/>
            </a:pPr>
            <a:r>
              <a:rPr lang="en-US" sz="1150" dirty="0">
                <a:solidFill>
                  <a:schemeClr val="tx1"/>
                </a:solidFill>
              </a:rPr>
              <a:t>mean / std of the pretrained model</a:t>
            </a:r>
            <a:endParaRPr lang="en-US" sz="1150" dirty="0"/>
          </a:p>
        </p:txBody>
      </p:sp>
      <p:sp>
        <p:nvSpPr>
          <p:cNvPr id="18" name="train aug"/>
          <p:cNvSpPr/>
          <p:nvPr/>
        </p:nvSpPr>
        <p:spPr>
          <a:xfrm>
            <a:off x="457200" y="2377440"/>
            <a:ext cx="4023360" cy="2286000"/>
          </a:xfrm>
          <a:prstGeom prst="roundRect">
            <a:avLst>
              <a:gd name="adj" fmla="val 32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9" name="test aug"/>
          <p:cNvSpPr/>
          <p:nvPr/>
        </p:nvSpPr>
        <p:spPr>
          <a:xfrm>
            <a:off x="4663440" y="2377440"/>
            <a:ext cx="4023360" cy="2286000"/>
          </a:xfrm>
          <a:prstGeom prst="roundRect">
            <a:avLst>
              <a:gd name="adj" fmla="val 32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640080" y="2468880"/>
            <a:ext cx="3657600" cy="274320"/>
          </a:xfrm>
          <a:prstGeom prst="rect">
            <a:avLst/>
          </a:prstGeom>
          <a:noFill/>
          <a:ln/>
        </p:spPr>
        <p:txBody>
          <a:bodyPr wrap="square" lIns="0" tIns="0" rIns="0" bIns="0" rtlCol="0" anchor="t"/>
          <a:lstStyle/>
          <a:p>
            <a:pPr indent="0" marL="0">
              <a:buNone/>
            </a:pPr>
            <a:r>
              <a:rPr lang="en-US" sz="1400" b="1" dirty="0">
                <a:solidFill>
                  <a:schemeClr val="tx2"/>
                </a:solidFill>
              </a:rPr>
              <a:t>Training augmentation (EfficientNet only)</a:t>
            </a:r>
            <a:endParaRPr lang="en-US" sz="1400" dirty="0"/>
          </a:p>
        </p:txBody>
      </p:sp>
      <p:sp>
        <p:nvSpPr>
          <p:cNvPr id="21" name="Text 19"/>
          <p:cNvSpPr txBox="1"/>
          <p:nvPr/>
        </p:nvSpPr>
        <p:spPr>
          <a:xfrm>
            <a:off x="640080" y="2834640"/>
            <a:ext cx="3657600"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Mild random crop (65-100% of the area)</a:t>
            </a:r>
            <a:endParaRPr lang="en-US" sz="1300" dirty="0"/>
          </a:p>
          <a:p>
            <a:pPr marL="342900" indent="-342900">
              <a:spcAft>
                <a:spcPts val="600"/>
              </a:spcAft>
              <a:buSzPct val="100000"/>
              <a:buChar char="•"/>
            </a:pPr>
            <a:r>
              <a:rPr lang="en-US" sz="1250" dirty="0">
                <a:solidFill>
                  <a:schemeClr val="tx1"/>
                </a:solidFill>
              </a:rPr>
              <a:t>Random horizontal flip</a:t>
            </a:r>
            <a:endParaRPr lang="en-US" sz="1300" dirty="0"/>
          </a:p>
          <a:p>
            <a:pPr marL="342900" indent="-342900">
              <a:spcAft>
                <a:spcPts val="600"/>
              </a:spcAft>
              <a:buSzPct val="100000"/>
              <a:buChar char="•"/>
            </a:pPr>
            <a:r>
              <a:rPr lang="en-US" sz="1250" dirty="0">
                <a:solidFill>
                  <a:schemeClr val="tx1"/>
                </a:solidFill>
              </a:rPr>
              <a:t>Hue rotation up to +/-0.5</a:t>
            </a:r>
            <a:endParaRPr lang="en-US" sz="1300" dirty="0"/>
          </a:p>
          <a:p>
            <a:pPr marL="342900" indent="-342900">
              <a:spcAft>
                <a:spcPts val="600"/>
              </a:spcAft>
              <a:buSzPct val="100000"/>
              <a:buChar char="•"/>
            </a:pPr>
            <a:r>
              <a:rPr lang="en-US" sz="1250" dirty="0">
                <a:solidFill>
                  <a:schemeClr val="tx1"/>
                </a:solidFill>
              </a:rPr>
              <a:t>Random shuffle of the R, G, B channels</a:t>
            </a:r>
            <a:endParaRPr lang="en-US" sz="1300" dirty="0"/>
          </a:p>
        </p:txBody>
      </p:sp>
      <p:sp>
        <p:nvSpPr>
          <p:cNvPr id="22" name="Text 20"/>
          <p:cNvSpPr txBox="1"/>
          <p:nvPr/>
        </p:nvSpPr>
        <p:spPr>
          <a:xfrm>
            <a:off x="4846320" y="2468880"/>
            <a:ext cx="3657600" cy="274320"/>
          </a:xfrm>
          <a:prstGeom prst="rect">
            <a:avLst/>
          </a:prstGeom>
          <a:noFill/>
          <a:ln/>
        </p:spPr>
        <p:txBody>
          <a:bodyPr wrap="square" lIns="0" tIns="0" rIns="0" bIns="0" rtlCol="0" anchor="t"/>
          <a:lstStyle/>
          <a:p>
            <a:pPr indent="0" marL="0">
              <a:buNone/>
            </a:pPr>
            <a:r>
              <a:rPr lang="en-US" sz="1400" b="1" dirty="0">
                <a:solidFill>
                  <a:schemeClr val="tx2"/>
                </a:solidFill>
              </a:rPr>
              <a:t>Why these choices</a:t>
            </a:r>
            <a:endParaRPr lang="en-US" sz="1400" dirty="0"/>
          </a:p>
        </p:txBody>
      </p:sp>
      <p:sp>
        <p:nvSpPr>
          <p:cNvPr id="23" name="Text 21"/>
          <p:cNvSpPr txBox="1"/>
          <p:nvPr/>
        </p:nvSpPr>
        <p:spPr>
          <a:xfrm>
            <a:off x="4846320" y="2834640"/>
            <a:ext cx="3657600"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Aspect ratios run from 0.42 to 3.5, so we pad instead of stretching or centre-cropping the head off</a:t>
            </a:r>
            <a:endParaRPr lang="en-US" sz="1300" dirty="0"/>
          </a:p>
          <a:p>
            <a:pPr marL="342900" indent="-342900">
              <a:spcAft>
                <a:spcPts val="600"/>
              </a:spcAft>
              <a:buSzPct val="100000"/>
              <a:buChar char="•"/>
            </a:pPr>
            <a:r>
              <a:rPr lang="en-US" sz="1250" dirty="0">
                <a:solidFill>
                  <a:schemeClr val="tx1"/>
                </a:solidFill>
              </a:rPr>
              <a:t>Colour is random, so hue and channel changes stop the model using it</a:t>
            </a:r>
            <a:endParaRPr lang="en-US" sz="1300" dirty="0"/>
          </a:p>
          <a:p>
            <a:pPr marL="342900" indent="-342900">
              <a:spcAft>
                <a:spcPts val="600"/>
              </a:spcAft>
              <a:buSzPct val="100000"/>
              <a:buChar char="•"/>
            </a:pPr>
            <a:r>
              <a:rPr lang="en-US" sz="1250" dirty="0">
                <a:solidFill>
                  <a:schemeClr val="tx1"/>
                </a:solidFill>
              </a:rPr>
              <a:t>At test time EfficientNet averages 4 views: original, flip, RGB-to-BGR, and both</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The models we used, and why</a:t>
            </a:r>
            <a:endParaRPr lang="en-US" sz="2500" dirty="0"/>
          </a:p>
        </p:txBody>
      </p:sp>
      <p:sp>
        <p:nvSpPr>
          <p:cNvPr id="3" name="model card 1"/>
          <p:cNvSpPr/>
          <p:nvPr/>
        </p:nvSpPr>
        <p:spPr>
          <a:xfrm>
            <a:off x="457200" y="1051560"/>
            <a:ext cx="2606040" cy="3611880"/>
          </a:xfrm>
          <a:prstGeom prst="roundRect">
            <a:avLst>
              <a:gd name="adj" fmla="val 280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94360" y="1161288"/>
            <a:ext cx="2331720" cy="274320"/>
          </a:xfrm>
          <a:prstGeom prst="rect">
            <a:avLst/>
          </a:prstGeom>
          <a:noFill/>
          <a:ln/>
        </p:spPr>
        <p:txBody>
          <a:bodyPr wrap="square" lIns="0" tIns="0" rIns="0" bIns="0" rtlCol="0" anchor="t"/>
          <a:lstStyle/>
          <a:p>
            <a:pPr indent="0" marL="0">
              <a:buNone/>
            </a:pPr>
            <a:r>
              <a:rPr lang="en-US" sz="1500" b="1" dirty="0">
                <a:solidFill>
                  <a:schemeClr val="accent1"/>
                </a:solidFill>
              </a:rPr>
              <a:t>DINOv2 ViT-B/14</a:t>
            </a:r>
            <a:endParaRPr lang="en-US" sz="1500" dirty="0"/>
          </a:p>
        </p:txBody>
      </p:sp>
      <p:sp>
        <p:nvSpPr>
          <p:cNvPr id="5" name="Text 3"/>
          <p:cNvSpPr txBox="1"/>
          <p:nvPr/>
        </p:nvSpPr>
        <p:spPr>
          <a:xfrm>
            <a:off x="594360" y="1453896"/>
            <a:ext cx="2331720" cy="411480"/>
          </a:xfrm>
          <a:prstGeom prst="rect">
            <a:avLst/>
          </a:prstGeom>
          <a:noFill/>
          <a:ln/>
        </p:spPr>
        <p:txBody>
          <a:bodyPr wrap="square" lIns="0" tIns="0" rIns="0" bIns="0" rtlCol="0" anchor="t"/>
          <a:lstStyle/>
          <a:p>
            <a:pPr indent="0" marL="0">
              <a:buNone/>
            </a:pPr>
            <a:r>
              <a:rPr lang="en-US" sz="1050" i="1" dirty="0">
                <a:solidFill>
                  <a:schemeClr val="accent6"/>
                </a:solidFill>
              </a:rPr>
              <a:t>Vision transformer, self-supervised (Meta)</a:t>
            </a:r>
            <a:endParaRPr lang="en-US" sz="1050" dirty="0"/>
          </a:p>
        </p:txBody>
      </p:sp>
      <p:sp>
        <p:nvSpPr>
          <p:cNvPr id="6" name="Text 4"/>
          <p:cNvSpPr txBox="1"/>
          <p:nvPr/>
        </p:nvSpPr>
        <p:spPr>
          <a:xfrm>
            <a:off x="594360" y="1920240"/>
            <a:ext cx="2331720" cy="228600"/>
          </a:xfrm>
          <a:prstGeom prst="rect">
            <a:avLst/>
          </a:prstGeom>
          <a:noFill/>
          <a:ln/>
        </p:spPr>
        <p:txBody>
          <a:bodyPr wrap="square" lIns="0" tIns="0" rIns="0" bIns="0" rtlCol="0" anchor="t"/>
          <a:lstStyle/>
          <a:p>
            <a:pPr indent="0" marL="0">
              <a:buNone/>
            </a:pPr>
            <a:r>
              <a:rPr lang="en-US" sz="1150" b="1" dirty="0">
                <a:solidFill>
                  <a:schemeClr val="tx2"/>
                </a:solidFill>
              </a:rPr>
              <a:t>What it is</a:t>
            </a:r>
            <a:endParaRPr lang="en-US" sz="1150" dirty="0"/>
          </a:p>
        </p:txBody>
      </p:sp>
      <p:sp>
        <p:nvSpPr>
          <p:cNvPr id="7" name="Text 5"/>
          <p:cNvSpPr txBox="1"/>
          <p:nvPr/>
        </p:nvSpPr>
        <p:spPr>
          <a:xfrm>
            <a:off x="594360" y="2148840"/>
            <a:ext cx="2331720" cy="822960"/>
          </a:xfrm>
          <a:prstGeom prst="rect">
            <a:avLst/>
          </a:prstGeom>
          <a:noFill/>
          <a:ln/>
        </p:spPr>
        <p:txBody>
          <a:bodyPr wrap="square" lIns="0" tIns="0" rIns="0" bIns="0" rtlCol="0" anchor="t"/>
          <a:lstStyle/>
          <a:p>
            <a:pPr indent="0" marL="0">
              <a:buNone/>
            </a:pPr>
            <a:r>
              <a:rPr lang="en-US" sz="1100" dirty="0">
                <a:solidFill>
                  <a:schemeClr val="tx1"/>
                </a:solidFill>
              </a:rPr>
              <a:t>Pretrained without labels on about 142M images. Outputs 768 numbers per image that describe shape and parts.</a:t>
            </a:r>
            <a:endParaRPr lang="en-US" sz="1100" dirty="0"/>
          </a:p>
        </p:txBody>
      </p:sp>
      <p:sp>
        <p:nvSpPr>
          <p:cNvPr id="8" name="Text 6"/>
          <p:cNvSpPr txBox="1"/>
          <p:nvPr/>
        </p:nvSpPr>
        <p:spPr>
          <a:xfrm>
            <a:off x="594360" y="3017520"/>
            <a:ext cx="2331720" cy="228600"/>
          </a:xfrm>
          <a:prstGeom prst="rect">
            <a:avLst/>
          </a:prstGeom>
          <a:noFill/>
          <a:ln/>
        </p:spPr>
        <p:txBody>
          <a:bodyPr wrap="square" lIns="0" tIns="0" rIns="0" bIns="0" rtlCol="0" anchor="t"/>
          <a:lstStyle/>
          <a:p>
            <a:pPr indent="0" marL="0">
              <a:buNone/>
            </a:pPr>
            <a:r>
              <a:rPr lang="en-US" sz="1150" b="1" dirty="0">
                <a:solidFill>
                  <a:schemeClr val="tx2"/>
                </a:solidFill>
              </a:rPr>
              <a:t>Why we tried it</a:t>
            </a:r>
            <a:endParaRPr lang="en-US" sz="1150" dirty="0"/>
          </a:p>
        </p:txBody>
      </p:sp>
      <p:sp>
        <p:nvSpPr>
          <p:cNvPr id="9" name="Text 7"/>
          <p:cNvSpPr txBox="1"/>
          <p:nvPr/>
        </p:nvSpPr>
        <p:spPr>
          <a:xfrm>
            <a:off x="594360" y="3246120"/>
            <a:ext cx="2331720" cy="822960"/>
          </a:xfrm>
          <a:prstGeom prst="rect">
            <a:avLst/>
          </a:prstGeom>
          <a:noFill/>
          <a:ln/>
        </p:spPr>
        <p:txBody>
          <a:bodyPr wrap="square" lIns="0" tIns="0" rIns="0" bIns="0" rtlCol="0" anchor="t"/>
          <a:lstStyle/>
          <a:p>
            <a:pPr indent="0" marL="0">
              <a:buNone/>
            </a:pPr>
            <a:r>
              <a:rPr lang="en-US" sz="1100" dirty="0">
                <a:solidFill>
                  <a:schemeClr val="tx1"/>
                </a:solidFill>
              </a:rPr>
              <a:t>With only about 43 images per class and random tint colours, we wanted shape-based features we could use frozen.</a:t>
            </a:r>
            <a:endParaRPr lang="en-US" sz="1100" dirty="0"/>
          </a:p>
        </p:txBody>
      </p:sp>
      <p:sp>
        <p:nvSpPr>
          <p:cNvPr id="10" name="Text 8"/>
          <p:cNvSpPr txBox="1"/>
          <p:nvPr/>
        </p:nvSpPr>
        <p:spPr>
          <a:xfrm>
            <a:off x="594360" y="4114800"/>
            <a:ext cx="2331720" cy="457200"/>
          </a:xfrm>
          <a:prstGeom prst="rect">
            <a:avLst/>
          </a:prstGeom>
          <a:noFill/>
          <a:ln/>
        </p:spPr>
        <p:txBody>
          <a:bodyPr wrap="square" lIns="0" tIns="0" rIns="0" bIns="0" rtlCol="0" anchor="t"/>
          <a:lstStyle/>
          <a:p>
            <a:pPr indent="0" marL="0">
              <a:buNone/>
            </a:pPr>
            <a:r>
              <a:rPr lang="en-US" sz="1150" b="1" dirty="0">
                <a:solidFill>
                  <a:schemeClr val="accent1"/>
                </a:solidFill>
              </a:rPr>
              <a:t>Public score 0.9231</a:t>
            </a:r>
            <a:endParaRPr lang="en-US" sz="1150" dirty="0"/>
          </a:p>
        </p:txBody>
      </p:sp>
      <p:sp>
        <p:nvSpPr>
          <p:cNvPr id="11" name="model card 2"/>
          <p:cNvSpPr/>
          <p:nvPr/>
        </p:nvSpPr>
        <p:spPr>
          <a:xfrm>
            <a:off x="3246120" y="1051560"/>
            <a:ext cx="2606040" cy="3611880"/>
          </a:xfrm>
          <a:prstGeom prst="roundRect">
            <a:avLst>
              <a:gd name="adj" fmla="val 280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3383280" y="1161288"/>
            <a:ext cx="2331720" cy="274320"/>
          </a:xfrm>
          <a:prstGeom prst="rect">
            <a:avLst/>
          </a:prstGeom>
          <a:noFill/>
          <a:ln/>
        </p:spPr>
        <p:txBody>
          <a:bodyPr wrap="square" lIns="0" tIns="0" rIns="0" bIns="0" rtlCol="0" anchor="t"/>
          <a:lstStyle/>
          <a:p>
            <a:pPr indent="0" marL="0">
              <a:buNone/>
            </a:pPr>
            <a:r>
              <a:rPr lang="en-US" sz="1500" b="1" dirty="0">
                <a:solidFill>
                  <a:schemeClr val="accent1"/>
                </a:solidFill>
              </a:rPr>
              <a:t>EfficientNetV2-S</a:t>
            </a:r>
            <a:endParaRPr lang="en-US" sz="1500" dirty="0"/>
          </a:p>
        </p:txBody>
      </p:sp>
      <p:sp>
        <p:nvSpPr>
          <p:cNvPr id="13" name="Text 11"/>
          <p:cNvSpPr txBox="1"/>
          <p:nvPr/>
        </p:nvSpPr>
        <p:spPr>
          <a:xfrm>
            <a:off x="3383280" y="1453896"/>
            <a:ext cx="2331720" cy="411480"/>
          </a:xfrm>
          <a:prstGeom prst="rect">
            <a:avLst/>
          </a:prstGeom>
          <a:noFill/>
          <a:ln/>
        </p:spPr>
        <p:txBody>
          <a:bodyPr wrap="square" lIns="0" tIns="0" rIns="0" bIns="0" rtlCol="0" anchor="t"/>
          <a:lstStyle/>
          <a:p>
            <a:pPr indent="0" marL="0">
              <a:buNone/>
            </a:pPr>
            <a:r>
              <a:rPr lang="en-US" sz="1050" i="1" dirty="0">
                <a:solidFill>
                  <a:schemeClr val="accent6"/>
                </a:solidFill>
              </a:rPr>
              <a:t>Convolutional network (Google), ImageNet-21k pretrained</a:t>
            </a:r>
            <a:endParaRPr lang="en-US" sz="1050" dirty="0"/>
          </a:p>
        </p:txBody>
      </p:sp>
      <p:sp>
        <p:nvSpPr>
          <p:cNvPr id="14" name="Text 12"/>
          <p:cNvSpPr txBox="1"/>
          <p:nvPr/>
        </p:nvSpPr>
        <p:spPr>
          <a:xfrm>
            <a:off x="3383280" y="1920240"/>
            <a:ext cx="2331720" cy="228600"/>
          </a:xfrm>
          <a:prstGeom prst="rect">
            <a:avLst/>
          </a:prstGeom>
          <a:noFill/>
          <a:ln/>
        </p:spPr>
        <p:txBody>
          <a:bodyPr wrap="square" lIns="0" tIns="0" rIns="0" bIns="0" rtlCol="0" anchor="t"/>
          <a:lstStyle/>
          <a:p>
            <a:pPr indent="0" marL="0">
              <a:buNone/>
            </a:pPr>
            <a:r>
              <a:rPr lang="en-US" sz="1150" b="1" dirty="0">
                <a:solidFill>
                  <a:schemeClr val="tx2"/>
                </a:solidFill>
              </a:rPr>
              <a:t>What it is</a:t>
            </a:r>
            <a:endParaRPr lang="en-US" sz="1150" dirty="0"/>
          </a:p>
        </p:txBody>
      </p:sp>
      <p:sp>
        <p:nvSpPr>
          <p:cNvPr id="15" name="Text 13"/>
          <p:cNvSpPr txBox="1"/>
          <p:nvPr/>
        </p:nvSpPr>
        <p:spPr>
          <a:xfrm>
            <a:off x="3383280" y="2148840"/>
            <a:ext cx="2331720" cy="822960"/>
          </a:xfrm>
          <a:prstGeom prst="rect">
            <a:avLst/>
          </a:prstGeom>
          <a:noFill/>
          <a:ln/>
        </p:spPr>
        <p:txBody>
          <a:bodyPr wrap="square" lIns="0" tIns="0" rIns="0" bIns="0" rtlCol="0" anchor="t"/>
          <a:lstStyle/>
          <a:p>
            <a:pPr indent="0" marL="0">
              <a:buNone/>
            </a:pPr>
            <a:r>
              <a:rPr lang="en-US" sz="1100" dirty="0">
                <a:solidFill>
                  <a:schemeClr val="tx1"/>
                </a:solidFill>
              </a:rPr>
              <a:t>Built for good accuracy with fast training and a small size (about 21M parameters).</a:t>
            </a:r>
            <a:endParaRPr lang="en-US" sz="1100" dirty="0"/>
          </a:p>
        </p:txBody>
      </p:sp>
      <p:sp>
        <p:nvSpPr>
          <p:cNvPr id="16" name="Text 14"/>
          <p:cNvSpPr txBox="1"/>
          <p:nvPr/>
        </p:nvSpPr>
        <p:spPr>
          <a:xfrm>
            <a:off x="3383280" y="3017520"/>
            <a:ext cx="2331720" cy="228600"/>
          </a:xfrm>
          <a:prstGeom prst="rect">
            <a:avLst/>
          </a:prstGeom>
          <a:noFill/>
          <a:ln/>
        </p:spPr>
        <p:txBody>
          <a:bodyPr wrap="square" lIns="0" tIns="0" rIns="0" bIns="0" rtlCol="0" anchor="t"/>
          <a:lstStyle/>
          <a:p>
            <a:pPr indent="0" marL="0">
              <a:buNone/>
            </a:pPr>
            <a:r>
              <a:rPr lang="en-US" sz="1150" b="1" dirty="0">
                <a:solidFill>
                  <a:schemeClr val="tx2"/>
                </a:solidFill>
              </a:rPr>
              <a:t>Why we tried it</a:t>
            </a:r>
            <a:endParaRPr lang="en-US" sz="1150" dirty="0"/>
          </a:p>
        </p:txBody>
      </p:sp>
      <p:sp>
        <p:nvSpPr>
          <p:cNvPr id="17" name="Text 15"/>
          <p:cNvSpPr txBox="1"/>
          <p:nvPr/>
        </p:nvSpPr>
        <p:spPr>
          <a:xfrm>
            <a:off x="3383280" y="3246120"/>
            <a:ext cx="2331720" cy="822960"/>
          </a:xfrm>
          <a:prstGeom prst="rect">
            <a:avLst/>
          </a:prstGeom>
          <a:noFill/>
          <a:ln/>
        </p:spPr>
        <p:txBody>
          <a:bodyPr wrap="square" lIns="0" tIns="0" rIns="0" bIns="0" rtlCol="0" anchor="t"/>
          <a:lstStyle/>
          <a:p>
            <a:pPr indent="0" marL="0">
              <a:buNone/>
            </a:pPr>
            <a:r>
              <a:rPr lang="en-US" sz="1100" dirty="0">
                <a:solidFill>
                  <a:schemeClr val="tx1"/>
                </a:solidFill>
              </a:rPr>
              <a:t>Fine-tuning adapts the whole network to tinted images, and it trains in minutes on a free T4 GPU.</a:t>
            </a:r>
            <a:endParaRPr lang="en-US" sz="1100" dirty="0"/>
          </a:p>
        </p:txBody>
      </p:sp>
      <p:sp>
        <p:nvSpPr>
          <p:cNvPr id="18" name="Text 16"/>
          <p:cNvSpPr txBox="1"/>
          <p:nvPr/>
        </p:nvSpPr>
        <p:spPr>
          <a:xfrm>
            <a:off x="3383280" y="4114800"/>
            <a:ext cx="2331720" cy="457200"/>
          </a:xfrm>
          <a:prstGeom prst="rect">
            <a:avLst/>
          </a:prstGeom>
          <a:noFill/>
          <a:ln/>
        </p:spPr>
        <p:txBody>
          <a:bodyPr wrap="square" lIns="0" tIns="0" rIns="0" bIns="0" rtlCol="0" anchor="t"/>
          <a:lstStyle/>
          <a:p>
            <a:pPr indent="0" marL="0">
              <a:buNone/>
            </a:pPr>
            <a:r>
              <a:rPr lang="en-US" sz="1150" b="1" dirty="0">
                <a:solidFill>
                  <a:schemeClr val="accent1"/>
                </a:solidFill>
              </a:rPr>
              <a:t>Public score 0.9235</a:t>
            </a:r>
            <a:endParaRPr lang="en-US" sz="1150" dirty="0"/>
          </a:p>
        </p:txBody>
      </p:sp>
      <p:sp>
        <p:nvSpPr>
          <p:cNvPr id="19" name="model card 3"/>
          <p:cNvSpPr/>
          <p:nvPr/>
        </p:nvSpPr>
        <p:spPr>
          <a:xfrm>
            <a:off x="6035040" y="1051560"/>
            <a:ext cx="2606040" cy="3611880"/>
          </a:xfrm>
          <a:prstGeom prst="roundRect">
            <a:avLst>
              <a:gd name="adj" fmla="val 280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6172200" y="1161288"/>
            <a:ext cx="2331720" cy="274320"/>
          </a:xfrm>
          <a:prstGeom prst="rect">
            <a:avLst/>
          </a:prstGeom>
          <a:noFill/>
          <a:ln/>
        </p:spPr>
        <p:txBody>
          <a:bodyPr wrap="square" lIns="0" tIns="0" rIns="0" bIns="0" rtlCol="0" anchor="t"/>
          <a:lstStyle/>
          <a:p>
            <a:pPr indent="0" marL="0">
              <a:buNone/>
            </a:pPr>
            <a:r>
              <a:rPr lang="en-US" sz="1500" b="1" dirty="0">
                <a:solidFill>
                  <a:schemeClr val="accent1"/>
                </a:solidFill>
              </a:rPr>
              <a:t>ConvNeXt</a:t>
            </a:r>
            <a:endParaRPr lang="en-US" sz="1500" dirty="0"/>
          </a:p>
        </p:txBody>
      </p:sp>
      <p:sp>
        <p:nvSpPr>
          <p:cNvPr id="21" name="Text 19"/>
          <p:cNvSpPr txBox="1"/>
          <p:nvPr/>
        </p:nvSpPr>
        <p:spPr>
          <a:xfrm>
            <a:off x="6172200" y="1453896"/>
            <a:ext cx="2331720" cy="411480"/>
          </a:xfrm>
          <a:prstGeom prst="rect">
            <a:avLst/>
          </a:prstGeom>
          <a:noFill/>
          <a:ln/>
        </p:spPr>
        <p:txBody>
          <a:bodyPr wrap="square" lIns="0" tIns="0" rIns="0" bIns="0" rtlCol="0" anchor="t"/>
          <a:lstStyle/>
          <a:p>
            <a:pPr indent="0" marL="0">
              <a:buNone/>
            </a:pPr>
            <a:r>
              <a:rPr lang="en-US" sz="1050" i="1" dirty="0">
                <a:solidFill>
                  <a:schemeClr val="accent6"/>
                </a:solidFill>
              </a:rPr>
              <a:t>Modern convolutional network (Meta)</a:t>
            </a:r>
            <a:endParaRPr lang="en-US" sz="1050" dirty="0"/>
          </a:p>
        </p:txBody>
      </p:sp>
      <p:sp>
        <p:nvSpPr>
          <p:cNvPr id="22" name="Text 20"/>
          <p:cNvSpPr txBox="1"/>
          <p:nvPr/>
        </p:nvSpPr>
        <p:spPr>
          <a:xfrm>
            <a:off x="6172200" y="1920240"/>
            <a:ext cx="2331720" cy="228600"/>
          </a:xfrm>
          <a:prstGeom prst="rect">
            <a:avLst/>
          </a:prstGeom>
          <a:noFill/>
          <a:ln/>
        </p:spPr>
        <p:txBody>
          <a:bodyPr wrap="square" lIns="0" tIns="0" rIns="0" bIns="0" rtlCol="0" anchor="t"/>
          <a:lstStyle/>
          <a:p>
            <a:pPr indent="0" marL="0">
              <a:buNone/>
            </a:pPr>
            <a:r>
              <a:rPr lang="en-US" sz="1150" b="1" dirty="0">
                <a:solidFill>
                  <a:schemeClr val="tx2"/>
                </a:solidFill>
              </a:rPr>
              <a:t>What it is</a:t>
            </a:r>
            <a:endParaRPr lang="en-US" sz="1150" dirty="0"/>
          </a:p>
        </p:txBody>
      </p:sp>
      <p:sp>
        <p:nvSpPr>
          <p:cNvPr id="23" name="Text 21"/>
          <p:cNvSpPr txBox="1"/>
          <p:nvPr/>
        </p:nvSpPr>
        <p:spPr>
          <a:xfrm>
            <a:off x="6172200" y="2148840"/>
            <a:ext cx="2331720" cy="822960"/>
          </a:xfrm>
          <a:prstGeom prst="rect">
            <a:avLst/>
          </a:prstGeom>
          <a:noFill/>
          <a:ln/>
        </p:spPr>
        <p:txBody>
          <a:bodyPr wrap="square" lIns="0" tIns="0" rIns="0" bIns="0" rtlCol="0" anchor="t"/>
          <a:lstStyle/>
          <a:p>
            <a:pPr indent="0" marL="0">
              <a:buNone/>
            </a:pPr>
            <a:r>
              <a:rPr lang="en-US" sz="1100" dirty="0">
                <a:solidFill>
                  <a:schemeClr val="tx1"/>
                </a:solidFill>
              </a:rPr>
              <a:t>A CNN redesigned with ideas from transformers, such as large kernels and LayerNorm.</a:t>
            </a:r>
            <a:endParaRPr lang="en-US" sz="1100" dirty="0"/>
          </a:p>
        </p:txBody>
      </p:sp>
      <p:sp>
        <p:nvSpPr>
          <p:cNvPr id="24" name="Text 22"/>
          <p:cNvSpPr txBox="1"/>
          <p:nvPr/>
        </p:nvSpPr>
        <p:spPr>
          <a:xfrm>
            <a:off x="6172200" y="3017520"/>
            <a:ext cx="2331720" cy="228600"/>
          </a:xfrm>
          <a:prstGeom prst="rect">
            <a:avLst/>
          </a:prstGeom>
          <a:noFill/>
          <a:ln/>
        </p:spPr>
        <p:txBody>
          <a:bodyPr wrap="square" lIns="0" tIns="0" rIns="0" bIns="0" rtlCol="0" anchor="t"/>
          <a:lstStyle/>
          <a:p>
            <a:pPr indent="0" marL="0">
              <a:buNone/>
            </a:pPr>
            <a:r>
              <a:rPr lang="en-US" sz="1150" b="1" dirty="0">
                <a:solidFill>
                  <a:schemeClr val="tx2"/>
                </a:solidFill>
              </a:rPr>
              <a:t>Why we tried it</a:t>
            </a:r>
            <a:endParaRPr lang="en-US" sz="1150" dirty="0"/>
          </a:p>
        </p:txBody>
      </p:sp>
      <p:sp>
        <p:nvSpPr>
          <p:cNvPr id="25" name="Text 23"/>
          <p:cNvSpPr txBox="1"/>
          <p:nvPr/>
        </p:nvSpPr>
        <p:spPr>
          <a:xfrm>
            <a:off x="6172200" y="3246120"/>
            <a:ext cx="2331720" cy="822960"/>
          </a:xfrm>
          <a:prstGeom prst="rect">
            <a:avLst/>
          </a:prstGeom>
          <a:noFill/>
          <a:ln/>
        </p:spPr>
        <p:txBody>
          <a:bodyPr wrap="square" lIns="0" tIns="0" rIns="0" bIns="0" rtlCol="0" anchor="t"/>
          <a:lstStyle/>
          <a:p>
            <a:pPr indent="0" marL="0">
              <a:buNone/>
            </a:pPr>
            <a:r>
              <a:rPr lang="en-US" sz="1100" dirty="0">
                <a:solidFill>
                  <a:schemeClr val="tx1"/>
                </a:solidFill>
              </a:rPr>
              <a:t>A second, different CNN to compare against EfficientNet on the same data.</a:t>
            </a:r>
            <a:endParaRPr lang="en-US" sz="1100" dirty="0"/>
          </a:p>
        </p:txBody>
      </p:sp>
      <p:sp>
        <p:nvSpPr>
          <p:cNvPr id="26" name="Text 24"/>
          <p:cNvSpPr txBox="1"/>
          <p:nvPr/>
        </p:nvSpPr>
        <p:spPr>
          <a:xfrm>
            <a:off x="6172200" y="4114800"/>
            <a:ext cx="2331720" cy="457200"/>
          </a:xfrm>
          <a:prstGeom prst="rect">
            <a:avLst/>
          </a:prstGeom>
          <a:noFill/>
          <a:ln/>
        </p:spPr>
        <p:txBody>
          <a:bodyPr wrap="square" lIns="0" tIns="0" rIns="0" bIns="0" rtlCol="0" anchor="t"/>
          <a:lstStyle/>
          <a:p>
            <a:pPr indent="0" marL="0">
              <a:buNone/>
            </a:pPr>
            <a:r>
              <a:rPr lang="en-US" sz="1150" b="1" dirty="0">
                <a:solidFill>
                  <a:schemeClr val="accent3"/>
                </a:solidFill>
              </a:rPr>
              <a:t>Public score 0.8166 (did not match EfficientNet in our run)</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Best model 1: DINOv2 + logistic regression</a:t>
            </a:r>
            <a:endParaRPr lang="en-US" sz="2500" dirty="0"/>
          </a:p>
        </p:txBody>
      </p:sp>
      <p:sp>
        <p:nvSpPr>
          <p:cNvPr id="3" name="Text 1"/>
          <p:cNvSpPr txBox="1"/>
          <p:nvPr/>
        </p:nvSpPr>
        <p:spPr>
          <a:xfrm>
            <a:off x="457200" y="1051560"/>
            <a:ext cx="4023360" cy="274320"/>
          </a:xfrm>
          <a:prstGeom prst="rect">
            <a:avLst/>
          </a:prstGeom>
          <a:noFill/>
          <a:ln/>
        </p:spPr>
        <p:txBody>
          <a:bodyPr wrap="square" lIns="0" tIns="0" rIns="0" bIns="0" rtlCol="0" anchor="t"/>
          <a:lstStyle/>
          <a:p>
            <a:pPr indent="0" marL="0">
              <a:buNone/>
            </a:pPr>
            <a:r>
              <a:rPr lang="en-US" sz="1500" b="1" dirty="0">
                <a:solidFill>
                  <a:schemeClr val="accent1"/>
                </a:solidFill>
              </a:rPr>
              <a:t>What it is</a:t>
            </a:r>
            <a:endParaRPr lang="en-US" sz="1500" dirty="0"/>
          </a:p>
        </p:txBody>
      </p:sp>
      <p:sp>
        <p:nvSpPr>
          <p:cNvPr id="4" name="Text 2"/>
          <p:cNvSpPr txBox="1"/>
          <p:nvPr/>
        </p:nvSpPr>
        <p:spPr>
          <a:xfrm>
            <a:off x="457200" y="1371600"/>
            <a:ext cx="4023360"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DINOv2 ViT-B/14: a vision transformer pretrained without labels on a very large image set</a:t>
            </a:r>
            <a:endParaRPr lang="en-US" sz="1300" dirty="0"/>
          </a:p>
          <a:p>
            <a:pPr marL="342900" indent="-342900">
              <a:spcAft>
                <a:spcPts val="600"/>
              </a:spcAft>
              <a:buSzPct val="100000"/>
              <a:buChar char="•"/>
            </a:pPr>
            <a:r>
              <a:rPr lang="en-US" sz="1250" dirty="0">
                <a:solidFill>
                  <a:schemeClr val="tx1"/>
                </a:solidFill>
              </a:rPr>
              <a:t>We do not train it. It turns each 224 x 224 image into 768 numbers</a:t>
            </a:r>
            <a:endParaRPr lang="en-US" sz="1300" dirty="0"/>
          </a:p>
          <a:p>
            <a:pPr marL="342900" indent="-342900">
              <a:spcAft>
                <a:spcPts val="600"/>
              </a:spcAft>
              <a:buSzPct val="100000"/>
              <a:buChar char="•"/>
            </a:pPr>
            <a:r>
              <a:rPr lang="en-US" sz="1250" dirty="0">
                <a:solidFill>
                  <a:schemeClr val="tx1"/>
                </a:solidFill>
              </a:rPr>
              <a:t>A simple classifier (StandardScaler + logistic regression, C = 1) learns the 72 classes from those numbers</a:t>
            </a:r>
            <a:endParaRPr lang="en-US" sz="1300" dirty="0"/>
          </a:p>
          <a:p>
            <a:pPr marL="342900" indent="-342900">
              <a:spcAft>
                <a:spcPts val="600"/>
              </a:spcAft>
              <a:buSzPct val="100000"/>
              <a:buChar char="•"/>
            </a:pPr>
            <a:r>
              <a:rPr lang="en-US" sz="1250" dirty="0">
                <a:solidFill>
                  <a:schemeClr val="tx1"/>
                </a:solidFill>
              </a:rPr>
              <a:t>Fast to train: only the small classifier is fitted</a:t>
            </a:r>
            <a:endParaRPr lang="en-US" sz="1300" dirty="0"/>
          </a:p>
        </p:txBody>
      </p:sp>
      <p:sp>
        <p:nvSpPr>
          <p:cNvPr id="5" name="result card"/>
          <p:cNvSpPr/>
          <p:nvPr/>
        </p:nvSpPr>
        <p:spPr>
          <a:xfrm>
            <a:off x="457200" y="3840480"/>
            <a:ext cx="4023360" cy="822960"/>
          </a:xfrm>
          <a:prstGeom prst="roundRect">
            <a:avLst>
              <a:gd name="adj" fmla="val 888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40080" y="3904488"/>
            <a:ext cx="3657600" cy="685800"/>
          </a:xfrm>
          <a:prstGeom prst="rect">
            <a:avLst/>
          </a:prstGeom>
          <a:noFill/>
          <a:ln/>
        </p:spPr>
        <p:txBody>
          <a:bodyPr wrap="square" lIns="0" tIns="0" rIns="0" bIns="0" rtlCol="0" anchor="t"/>
          <a:lstStyle/>
          <a:p>
            <a:pPr indent="0" marL="0">
              <a:buNone/>
            </a:pPr>
            <a:r>
              <a:rPr lang="en-US" sz="1800" b="1" dirty="0">
                <a:solidFill>
                  <a:schemeClr val="accent1"/>
                </a:solidFill>
              </a:rPr>
              <a:t>5-fold CV 0.911</a:t>
            </a:r>
            <a:endParaRPr lang="en-US" sz="1300" dirty="0"/>
          </a:p>
          <a:p>
            <a:pPr indent="0" marL="0">
              <a:buNone/>
            </a:pPr>
            <a:r>
              <a:rPr lang="en-US" sz="1400" b="1" dirty="0">
                <a:solidFill>
                  <a:schemeClr val="tx2"/>
                </a:solidFill>
              </a:rPr>
              <a:t>Public leaderboard 0.9231</a:t>
            </a:r>
            <a:endParaRPr lang="en-US" sz="1300" dirty="0"/>
          </a:p>
        </p:txBody>
      </p:sp>
      <p:graphicFrame>
        <p:nvGraphicFramePr>
          <p:cNvPr id="7" name="Chart 0" descr=""/>
          <p:cNvGraphicFramePr/>
          <p:nvPr/>
        </p:nvGraphicFramePr>
        <p:xfrm>
          <a:off x="4754880" y="1051560"/>
          <a:ext cx="4023360" cy="3611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Best model 2: EfficientNetV2-S fine-tuned</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114800" cy="914400"/>
        </p:xfrm>
        <a:graphic>
          <a:graphicData uri="http://schemas.openxmlformats.org/drawingml/2006/table">
            <a:tbl>
              <a:tblPr/>
              <a:tblGrid>
                <a:gridCol w="1005840"/>
                <a:gridCol w="3108960"/>
              </a:tblGrid>
              <a:tr h="0">
                <a:tc>
                  <a:txBody>
                    <a:bodyPr/>
                    <a:lstStyle/>
                    <a:p>
                      <a:pPr indent="0" marL="0">
                        <a:buNone/>
                      </a:pPr>
                      <a:r>
                        <a:rPr lang="en-US" sz="1150" b="1" dirty="0">
                          <a:solidFill>
                            <a:schemeClr val="tx2"/>
                          </a:solidFill>
                        </a:rPr>
                        <a:t>Model</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tf_efficientnetv2_s.in21k_ft_in1k (timm)</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0">
                <a:tc>
                  <a:txBody>
                    <a:bodyPr/>
                    <a:lstStyle/>
                    <a:p>
                      <a:pPr indent="0" marL="0">
                        <a:buNone/>
                      </a:pPr>
                      <a:r>
                        <a:rPr lang="en-US" sz="1150" b="1" dirty="0">
                          <a:solidFill>
                            <a:schemeClr val="tx2"/>
                          </a:solidFill>
                        </a:rPr>
                        <a:t>Input</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320 x 320, padded to square</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0">
                <a:tc>
                  <a:txBody>
                    <a:bodyPr/>
                    <a:lstStyle/>
                    <a:p>
                      <a:pPr indent="0" marL="0">
                        <a:buNone/>
                      </a:pPr>
                      <a:r>
                        <a:rPr lang="en-US" sz="1150" b="1" dirty="0">
                          <a:solidFill>
                            <a:schemeClr val="tx2"/>
                          </a:solidFill>
                        </a:rPr>
                        <a:t>Optimiser</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AdamW, lr 3e-4, weight decay 1e-2, one-cycle schedule</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0">
                <a:tc>
                  <a:txBody>
                    <a:bodyPr/>
                    <a:lstStyle/>
                    <a:p>
                      <a:pPr indent="0" marL="0">
                        <a:buNone/>
                      </a:pPr>
                      <a:r>
                        <a:rPr lang="en-US" sz="1150" b="1" dirty="0">
                          <a:solidFill>
                            <a:schemeClr val="tx2"/>
                          </a:solidFill>
                        </a:rPr>
                        <a:t>Training</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15 epochs, batch 32, fp16, dropout 0.2, label smoothing 0.1</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0">
                <a:tc>
                  <a:txBody>
                    <a:bodyPr/>
                    <a:lstStyle/>
                    <a:p>
                      <a:pPr indent="0" marL="0">
                        <a:buNone/>
                      </a:pPr>
                      <a:r>
                        <a:rPr lang="en-US" sz="1150" b="1" dirty="0">
                          <a:solidFill>
                            <a:schemeClr val="tx2"/>
                          </a:solidFill>
                        </a:rPr>
                        <a:t>Data</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Fold 0 only: 80% of train, 20% for validation</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0">
                <a:tc>
                  <a:txBody>
                    <a:bodyPr/>
                    <a:lstStyle/>
                    <a:p>
                      <a:pPr indent="0" marL="0">
                        <a:buNone/>
                      </a:pPr>
                      <a:r>
                        <a:rPr lang="en-US" sz="1150" b="1" dirty="0">
                          <a:solidFill>
                            <a:schemeClr val="tx2"/>
                          </a:solidFill>
                        </a:rPr>
                        <a:t>Checkpoint</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Best validation macro-F1 epoch</a:t>
                      </a:r>
                      <a:endParaRPr lang="en-US" sz="1150" dirty="0"/>
                    </a:p>
                  </a:txBody>
                  <a:tcPr marL="73152" marR="73152" marT="36576" marB="36576">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bl>
          </a:graphicData>
        </a:graphic>
      </p:graphicFrame>
      <p:sp>
        <p:nvSpPr>
          <p:cNvPr id="4" name="result card"/>
          <p:cNvSpPr/>
          <p:nvPr/>
        </p:nvSpPr>
        <p:spPr>
          <a:xfrm>
            <a:off x="457200" y="3794760"/>
            <a:ext cx="4114800" cy="868680"/>
          </a:xfrm>
          <a:prstGeom prst="roundRect">
            <a:avLst>
              <a:gd name="adj" fmla="val 842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40080" y="3886200"/>
            <a:ext cx="3840480" cy="685800"/>
          </a:xfrm>
          <a:prstGeom prst="rect">
            <a:avLst/>
          </a:prstGeom>
          <a:noFill/>
          <a:ln/>
        </p:spPr>
        <p:txBody>
          <a:bodyPr wrap="square" lIns="0" tIns="0" rIns="0" bIns="0" rtlCol="0" anchor="t"/>
          <a:lstStyle/>
          <a:p>
            <a:pPr indent="0" marL="0">
              <a:buNone/>
            </a:pPr>
            <a:r>
              <a:rPr lang="en-US" sz="1400" b="1" dirty="0">
                <a:solidFill>
                  <a:schemeClr val="accent1"/>
                </a:solidFill>
              </a:rPr>
              <a:t>Validation F1 0.9207 (0.9206 with TTA)</a:t>
            </a:r>
            <a:endParaRPr lang="en-US" sz="1300" dirty="0"/>
          </a:p>
          <a:p>
            <a:pPr indent="0" marL="0">
              <a:buNone/>
            </a:pPr>
            <a:r>
              <a:rPr lang="en-US" sz="1400" b="1" dirty="0">
                <a:solidFill>
                  <a:schemeClr val="tx2"/>
                </a:solidFill>
              </a:rPr>
              <a:t>Public leaderboard 0.9235</a:t>
            </a:r>
            <a:endParaRPr lang="en-US" sz="1300" dirty="0"/>
          </a:p>
        </p:txBody>
      </p:sp>
      <p:graphicFrame>
        <p:nvGraphicFramePr>
          <p:cNvPr id="6" name="Chart 0" descr=""/>
          <p:cNvGraphicFramePr/>
          <p:nvPr/>
        </p:nvGraphicFramePr>
        <p:xfrm>
          <a:off x="4754880" y="1051560"/>
          <a:ext cx="4023360" cy="3611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Why they work, and where they still fail</a:t>
            </a:r>
            <a:endParaRPr lang="en-US" sz="2500" dirty="0"/>
          </a:p>
        </p:txBody>
      </p:sp>
      <p:sp>
        <p:nvSpPr>
          <p:cNvPr id="3" name="Text 1"/>
          <p:cNvSpPr txBox="1"/>
          <p:nvPr/>
        </p:nvSpPr>
        <p:spPr>
          <a:xfrm>
            <a:off x="457200" y="1051560"/>
            <a:ext cx="4023360" cy="274320"/>
          </a:xfrm>
          <a:prstGeom prst="rect">
            <a:avLst/>
          </a:prstGeom>
          <a:noFill/>
          <a:ln/>
        </p:spPr>
        <p:txBody>
          <a:bodyPr wrap="square" lIns="0" tIns="0" rIns="0" bIns="0" rtlCol="0" anchor="t"/>
          <a:lstStyle/>
          <a:p>
            <a:pPr indent="0" marL="0">
              <a:buNone/>
            </a:pPr>
            <a:r>
              <a:rPr lang="en-US" sz="1500" b="1" dirty="0">
                <a:solidFill>
                  <a:schemeClr val="accent1"/>
                </a:solidFill>
              </a:rPr>
              <a:t>Our reading of the results</a:t>
            </a:r>
            <a:endParaRPr lang="en-US" sz="1500" dirty="0"/>
          </a:p>
        </p:txBody>
      </p:sp>
      <p:sp>
        <p:nvSpPr>
          <p:cNvPr id="4" name="Text 2"/>
          <p:cNvSpPr txBox="1"/>
          <p:nvPr/>
        </p:nvSpPr>
        <p:spPr>
          <a:xfrm>
            <a:off x="457200" y="1371600"/>
            <a:ext cx="402336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With about 43 photos per class, a strong pretrained model matters more than a big new one</a:t>
            </a:r>
            <a:endParaRPr lang="en-US" sz="1300" dirty="0"/>
          </a:p>
          <a:p>
            <a:pPr marL="342900" indent="-342900">
              <a:spcAft>
                <a:spcPts val="600"/>
              </a:spcAft>
              <a:buSzPct val="100000"/>
              <a:buChar char="•"/>
            </a:pPr>
            <a:r>
              <a:rPr lang="en-US" sz="1250" dirty="0">
                <a:solidFill>
                  <a:schemeClr val="tx1"/>
                </a:solidFill>
              </a:rPr>
              <a:t>DINOv2 features describe shape and parts, which survive a colour tint</a:t>
            </a:r>
            <a:endParaRPr lang="en-US" sz="1300" dirty="0"/>
          </a:p>
          <a:p>
            <a:pPr marL="342900" indent="-342900">
              <a:spcAft>
                <a:spcPts val="600"/>
              </a:spcAft>
              <a:buSzPct val="100000"/>
              <a:buChar char="•"/>
            </a:pPr>
            <a:r>
              <a:rPr lang="en-US" sz="1250" dirty="0">
                <a:solidFill>
                  <a:schemeClr val="tx1"/>
                </a:solidFill>
              </a:rPr>
              <a:t>EfficientNet saw random hue and channel changes in training, so tint cannot be a shortcut</a:t>
            </a:r>
            <a:endParaRPr lang="en-US" sz="1300" dirty="0"/>
          </a:p>
          <a:p>
            <a:pPr marL="342900" indent="-342900">
              <a:spcAft>
                <a:spcPts val="600"/>
              </a:spcAft>
              <a:buSzPct val="100000"/>
              <a:buChar char="•"/>
            </a:pPr>
            <a:r>
              <a:rPr lang="en-US" sz="1250" dirty="0">
                <a:solidFill>
                  <a:schemeClr val="tx1"/>
                </a:solidFill>
              </a:rPr>
              <a:t>Two different model families both landed near 0.923, which hints that a few hard classes set a ceiling</a:t>
            </a:r>
            <a:endParaRPr lang="en-US" sz="1300" dirty="0"/>
          </a:p>
        </p:txBody>
      </p:sp>
      <p:sp>
        <p:nvSpPr>
          <p:cNvPr id="5" name="Text 3"/>
          <p:cNvSpPr txBox="1"/>
          <p:nvPr/>
        </p:nvSpPr>
        <p:spPr>
          <a:xfrm>
            <a:off x="457200" y="4297680"/>
            <a:ext cx="4023360" cy="274320"/>
          </a:xfrm>
          <a:prstGeom prst="rect">
            <a:avLst/>
          </a:prstGeom>
          <a:noFill/>
          <a:ln/>
        </p:spPr>
        <p:txBody>
          <a:bodyPr wrap="square" lIns="0" tIns="0" rIns="0" bIns="0" rtlCol="0" anchor="t"/>
          <a:lstStyle/>
          <a:p>
            <a:pPr indent="0" marL="0">
              <a:buNone/>
            </a:pPr>
            <a:r>
              <a:rPr lang="en-US" sz="1100" i="1" dirty="0">
                <a:solidFill>
                  <a:schemeClr val="accent6"/>
                </a:solidFill>
              </a:rPr>
              <a:t>Interpretation, not a proven cause.</a:t>
            </a:r>
            <a:endParaRPr lang="en-US" sz="1100" dirty="0"/>
          </a:p>
        </p:txBody>
      </p:sp>
      <p:graphicFrame>
        <p:nvGraphicFramePr>
          <p:cNvPr id="6" name="Chart 0" descr=""/>
          <p:cNvGraphicFramePr/>
          <p:nvPr/>
        </p:nvGraphicFramePr>
        <p:xfrm>
          <a:off x="4663440" y="1051560"/>
          <a:ext cx="4114800" cy="33832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663440" y="4434840"/>
            <a:ext cx="4114800" cy="274320"/>
          </a:xfrm>
          <a:prstGeom prst="rect">
            <a:avLst/>
          </a:prstGeom>
          <a:noFill/>
          <a:ln/>
        </p:spPr>
        <p:txBody>
          <a:bodyPr wrap="square" lIns="0" tIns="0" rIns="0" bIns="0" rtlCol="0" anchor="t"/>
          <a:lstStyle/>
          <a:p>
            <a:pPr indent="0" marL="0">
              <a:buNone/>
            </a:pPr>
            <a:r>
              <a:rPr lang="en-US" sz="1000" i="1" dirty="0">
                <a:solidFill>
                  <a:schemeClr val="accent6"/>
                </a:solidFill>
              </a:rPr>
              <a:t>Each class has only about 8 validation images, so single-class scores are noisy.</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All experiments: public leaderboard scores</a:t>
            </a:r>
            <a:endParaRPr lang="en-US" sz="2500" dirty="0"/>
          </a:p>
        </p:txBody>
      </p:sp>
      <p:graphicFrame>
        <p:nvGraphicFramePr>
          <p:cNvPr id="3" name="Chart 0" descr=""/>
          <p:cNvGraphicFramePr/>
          <p:nvPr/>
        </p:nvGraphicFramePr>
        <p:xfrm>
          <a:off x="457200" y="105156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4" name="takeaway card"/>
          <p:cNvSpPr/>
          <p:nvPr/>
        </p:nvSpPr>
        <p:spPr>
          <a:xfrm>
            <a:off x="5760720" y="1051560"/>
            <a:ext cx="2926080" cy="3611880"/>
          </a:xfrm>
          <a:prstGeom prst="roundRect">
            <a:avLst>
              <a:gd name="adj" fmla="val 25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5943600" y="1170432"/>
            <a:ext cx="2560320" cy="274320"/>
          </a:xfrm>
          <a:prstGeom prst="rect">
            <a:avLst/>
          </a:prstGeom>
          <a:noFill/>
          <a:ln/>
        </p:spPr>
        <p:txBody>
          <a:bodyPr wrap="square" lIns="0" tIns="0" rIns="0" bIns="0" rtlCol="0" anchor="t"/>
          <a:lstStyle/>
          <a:p>
            <a:pPr indent="0" marL="0">
              <a:buNone/>
            </a:pPr>
            <a:r>
              <a:rPr lang="en-US" sz="1500" b="1" dirty="0">
                <a:solidFill>
                  <a:schemeClr val="accent1"/>
                </a:solidFill>
              </a:rPr>
              <a:t>The pattern</a:t>
            </a:r>
            <a:endParaRPr lang="en-US" sz="1500" dirty="0"/>
          </a:p>
        </p:txBody>
      </p:sp>
      <p:sp>
        <p:nvSpPr>
          <p:cNvPr id="6" name="Text 3"/>
          <p:cNvSpPr txBox="1"/>
          <p:nvPr/>
        </p:nvSpPr>
        <p:spPr>
          <a:xfrm>
            <a:off x="5943600" y="1554480"/>
            <a:ext cx="256032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two simplest, best-pretrained recipes scored highest</a:t>
            </a:r>
            <a:endParaRPr lang="en-US" sz="1300" dirty="0"/>
          </a:p>
          <a:p>
            <a:pPr marL="342900" indent="-342900">
              <a:spcAft>
                <a:spcPts val="600"/>
              </a:spcAft>
              <a:buSzPct val="100000"/>
              <a:buChar char="•"/>
            </a:pPr>
            <a:r>
              <a:rPr lang="en-US" sz="1300" dirty="0">
                <a:solidFill>
                  <a:schemeClr val="tx1"/>
                </a:solidFill>
              </a:rPr>
              <a:t>Our frozen ensemble of bigger models scored lower</a:t>
            </a:r>
            <a:endParaRPr lang="en-US" sz="1300" dirty="0"/>
          </a:p>
          <a:p>
            <a:pPr marL="342900" indent="-342900">
              <a:spcAft>
                <a:spcPts val="600"/>
              </a:spcAft>
              <a:buSzPct val="100000"/>
              <a:buChar char="•"/>
            </a:pPr>
            <a:r>
              <a:rPr lang="en-US" sz="1300" dirty="0">
                <a:solidFill>
                  <a:schemeClr val="tx1"/>
                </a:solidFill>
              </a:rPr>
              <a:t>More complexity did not mean a better score</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What each experiment taught us</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651760"/>
                <a:gridCol w="2651760"/>
                <a:gridCol w="2926080"/>
              </a:tblGrid>
              <a:tr h="0">
                <a:tc>
                  <a:txBody>
                    <a:bodyPr/>
                    <a:lstStyle/>
                    <a:p>
                      <a:pPr indent="0" marL="0">
                        <a:buNone/>
                      </a:pPr>
                      <a:r>
                        <a:rPr lang="en-US" sz="1200" b="1" dirty="0">
                          <a:solidFill>
                            <a:schemeClr val="bg1"/>
                          </a:solidFill>
                        </a:rPr>
                        <a:t>Experiment</a:t>
                      </a:r>
                      <a:endParaRPr lang="en-US" sz="1200" dirty="0"/>
                    </a:p>
                  </a:txBody>
                  <a:tcPr marL="91440" marR="91440" marT="45720" marB="45720">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Result</a:t>
                      </a:r>
                      <a:endParaRPr lang="en-US" sz="1200" dirty="0"/>
                    </a:p>
                  </a:txBody>
                  <a:tcPr marL="91440" marR="91440" marT="45720" marB="45720">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we learned</a:t>
                      </a:r>
                      <a:endParaRPr lang="en-US" sz="1200" dirty="0"/>
                    </a:p>
                  </a:txBody>
                  <a:tcPr marL="91440" marR="91440" marT="45720" marB="45720">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tx2"/>
                    </a:solidFill>
                  </a:tcPr>
                </a:tc>
              </a:tr>
              <a:tr h="0">
                <a:tc>
                  <a:txBody>
                    <a:bodyPr/>
                    <a:lstStyle/>
                    <a:p>
                      <a:pPr indent="0" marL="0">
                        <a:buNone/>
                      </a:pPr>
                      <a:r>
                        <a:rPr lang="en-US" sz="1100" b="1" dirty="0">
                          <a:solidFill>
                            <a:schemeClr val="tx1"/>
                          </a:solidFill>
                        </a:rPr>
                        <a:t>Frozen ensemble: DINOv2-L at 336 px + CLIP-L + SigLIP, plus one round of pseudo-labels</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Random-fold CV 0.977 (DINOv2-L 0.975, SigLIP 0.921, CLIP 0.868). Public score 0.898</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 very high CV did not carry over to the leaderboard. We suspect near-duplicate photos in train inflated it. Pseudo-labels added only +0.0006 in CV</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r h="0">
                <a:tc>
                  <a:txBody>
                    <a:bodyPr/>
                    <a:lstStyle/>
                    <a:p>
                      <a:pPr indent="0" marL="0">
                        <a:buNone/>
                      </a:pPr>
                      <a:r>
                        <a:rPr lang="en-US" sz="1100" b="1" dirty="0">
                          <a:solidFill>
                            <a:schemeClr val="tx1"/>
                          </a:solidFill>
                        </a:rPr>
                        <a:t>ConvNeXt fine-tune</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Public score 0.8166</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Did not match EfficientNetV2-S in our run</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2"/>
                    </a:solidFill>
                  </a:tcPr>
                </a:tc>
              </a:tr>
              <a:tr h="0">
                <a:tc>
                  <a:txBody>
                    <a:bodyPr/>
                    <a:lstStyle/>
                    <a:p>
                      <a:pPr indent="0" marL="0">
                        <a:buNone/>
                      </a:pPr>
                      <a:r>
                        <a:rPr lang="en-US" sz="1100" b="1" dirty="0">
                          <a:solidFill>
                            <a:schemeClr val="tx1"/>
                          </a:solidFill>
                        </a:rPr>
                        <a:t>Train vs test shift checks</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AUC 0.49, similar confidence</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The gap was not caused by test images being different</a:t>
                      </a:r>
                      <a:endParaRPr lang="en-US" sz="1100" dirty="0"/>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What we learned</a:t>
            </a:r>
            <a:endParaRPr lang="en-US" sz="2500" dirty="0"/>
          </a:p>
        </p:txBody>
      </p:sp>
      <p:sp>
        <p:nvSpPr>
          <p:cNvPr id="3" name="lesson 1"/>
          <p:cNvSpPr/>
          <p:nvPr/>
        </p:nvSpPr>
        <p:spPr>
          <a:xfrm>
            <a:off x="457200" y="1097280"/>
            <a:ext cx="402336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207008"/>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Check validation against the leaderboard</a:t>
            </a:r>
            <a:endParaRPr lang="en-US" sz="1400" dirty="0"/>
          </a:p>
        </p:txBody>
      </p:sp>
      <p:sp>
        <p:nvSpPr>
          <p:cNvPr id="5" name="Text 3"/>
          <p:cNvSpPr txBox="1"/>
          <p:nvPr/>
        </p:nvSpPr>
        <p:spPr>
          <a:xfrm>
            <a:off x="640080" y="1554480"/>
            <a:ext cx="3657600" cy="960120"/>
          </a:xfrm>
          <a:prstGeom prst="rect">
            <a:avLst/>
          </a:prstGeom>
          <a:noFill/>
          <a:ln/>
        </p:spPr>
        <p:txBody>
          <a:bodyPr wrap="square" lIns="0" tIns="0" rIns="0" bIns="0" rtlCol="0" anchor="t"/>
          <a:lstStyle/>
          <a:p>
            <a:pPr indent="0" marL="0">
              <a:buNone/>
            </a:pPr>
            <a:r>
              <a:rPr lang="en-US" sz="1200" dirty="0">
                <a:solidFill>
                  <a:schemeClr val="tx1"/>
                </a:solidFill>
              </a:rPr>
              <a:t>Random CV matched the public score for our two simple models, but not for the large ensemble. A validation score is only as good as its last check.</a:t>
            </a:r>
            <a:endParaRPr lang="en-US" sz="1200" dirty="0"/>
          </a:p>
        </p:txBody>
      </p:sp>
      <p:sp>
        <p:nvSpPr>
          <p:cNvPr id="6" name="lesson 2"/>
          <p:cNvSpPr/>
          <p:nvPr/>
        </p:nvSpPr>
        <p:spPr>
          <a:xfrm>
            <a:off x="4663440" y="1097280"/>
            <a:ext cx="402336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846320" y="1207008"/>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Simple, well-pretrained beats complex</a:t>
            </a:r>
            <a:endParaRPr lang="en-US" sz="1400" dirty="0"/>
          </a:p>
        </p:txBody>
      </p:sp>
      <p:sp>
        <p:nvSpPr>
          <p:cNvPr id="8" name="Text 6"/>
          <p:cNvSpPr txBox="1"/>
          <p:nvPr/>
        </p:nvSpPr>
        <p:spPr>
          <a:xfrm>
            <a:off x="4846320" y="1554480"/>
            <a:ext cx="3657600" cy="960120"/>
          </a:xfrm>
          <a:prstGeom prst="rect">
            <a:avLst/>
          </a:prstGeom>
          <a:noFill/>
          <a:ln/>
        </p:spPr>
        <p:txBody>
          <a:bodyPr wrap="square" lIns="0" tIns="0" rIns="0" bIns="0" rtlCol="0" anchor="t"/>
          <a:lstStyle/>
          <a:p>
            <a:pPr indent="0" marL="0">
              <a:buNone/>
            </a:pPr>
            <a:r>
              <a:rPr lang="en-US" sz="1200" dirty="0">
                <a:solidFill>
                  <a:schemeClr val="tx1"/>
                </a:solidFill>
              </a:rPr>
              <a:t>With about 43 images per class, DINOv2-B + logistic regression and a fine-tuned EfficientNetV2-S were the strongest.</a:t>
            </a:r>
            <a:endParaRPr lang="en-US" sz="1200" dirty="0"/>
          </a:p>
        </p:txBody>
      </p:sp>
      <p:sp>
        <p:nvSpPr>
          <p:cNvPr id="9" name="lesson 3"/>
          <p:cNvSpPr/>
          <p:nvPr/>
        </p:nvSpPr>
        <p:spPr>
          <a:xfrm>
            <a:off x="457200" y="2697480"/>
            <a:ext cx="402336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0080" y="2807208"/>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Treat arbitrary colour as noise</a:t>
            </a:r>
            <a:endParaRPr lang="en-US" sz="1400" dirty="0"/>
          </a:p>
        </p:txBody>
      </p:sp>
      <p:sp>
        <p:nvSpPr>
          <p:cNvPr id="11" name="Text 9"/>
          <p:cNvSpPr txBox="1"/>
          <p:nvPr/>
        </p:nvSpPr>
        <p:spPr>
          <a:xfrm>
            <a:off x="640080" y="3154680"/>
            <a:ext cx="3657600" cy="960120"/>
          </a:xfrm>
          <a:prstGeom prst="rect">
            <a:avLst/>
          </a:prstGeom>
          <a:noFill/>
          <a:ln/>
        </p:spPr>
        <p:txBody>
          <a:bodyPr wrap="square" lIns="0" tIns="0" rIns="0" bIns="0" rtlCol="0" anchor="t"/>
          <a:lstStyle/>
          <a:p>
            <a:pPr indent="0" marL="0">
              <a:buNone/>
            </a:pPr>
            <a:r>
              <a:rPr lang="en-US" sz="1200" dirty="0">
                <a:solidFill>
                  <a:schemeClr val="tx1"/>
                </a:solidFill>
              </a:rPr>
              <a:t>Hue shifts and channel shuffles during training let the model focus on shape and texture.</a:t>
            </a:r>
            <a:endParaRPr lang="en-US" sz="1200" dirty="0"/>
          </a:p>
        </p:txBody>
      </p:sp>
      <p:sp>
        <p:nvSpPr>
          <p:cNvPr id="12" name="lesson 4"/>
          <p:cNvSpPr/>
          <p:nvPr/>
        </p:nvSpPr>
        <p:spPr>
          <a:xfrm>
            <a:off x="4663440" y="2697480"/>
            <a:ext cx="402336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846320" y="2807208"/>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The hard classes repeat</a:t>
            </a:r>
            <a:endParaRPr lang="en-US" sz="1400" dirty="0"/>
          </a:p>
        </p:txBody>
      </p:sp>
      <p:sp>
        <p:nvSpPr>
          <p:cNvPr id="14" name="Text 12"/>
          <p:cNvSpPr txBox="1"/>
          <p:nvPr/>
        </p:nvSpPr>
        <p:spPr>
          <a:xfrm>
            <a:off x="4846320" y="3154680"/>
            <a:ext cx="3657600" cy="960120"/>
          </a:xfrm>
          <a:prstGeom prst="rect">
            <a:avLst/>
          </a:prstGeom>
          <a:noFill/>
          <a:ln/>
        </p:spPr>
        <p:txBody>
          <a:bodyPr wrap="square" lIns="0" tIns="0" rIns="0" bIns="0" rtlCol="0" anchor="t"/>
          <a:lstStyle/>
          <a:p>
            <a:pPr indent="0" marL="0">
              <a:buNone/>
            </a:pPr>
            <a:r>
              <a:rPr lang="en-US" sz="1200" dirty="0">
                <a:solidFill>
                  <a:schemeClr val="tx1"/>
                </a:solidFill>
              </a:rPr>
              <a:t>Rat, whale, swan, parrot, bear, pig and possum were among the weakest in both our EfficientNet results and our DINOv2-family results.</a:t>
            </a:r>
            <a:endParaRPr lang="en-US" sz="1200" dirty="0"/>
          </a:p>
        </p:txBody>
      </p:sp>
      <p:sp>
        <p:nvSpPr>
          <p:cNvPr id="15" name="Text 13"/>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100" i="1" dirty="0">
                <a:solidFill>
                  <a:schemeClr val="tx2"/>
                </a:solidFill>
              </a:rPr>
              <a:t>Next ideas (prepared, not yet validated): average 5 EfficientNet folds and blend with DINOv2; class weights for small classes such as jellyfish.</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500" b="1" dirty="0">
                <a:solidFill>
                  <a:schemeClr val="tx2"/>
                </a:solidFill>
              </a:rPr>
              <a:t>Our two best notebooks at a glance</a:t>
            </a:r>
            <a:endParaRPr lang="en-US" sz="2500" dirty="0"/>
          </a:p>
        </p:txBody>
      </p:sp>
      <p:sp>
        <p:nvSpPr>
          <p:cNvPr id="3" name="Text 1"/>
          <p:cNvSpPr txBox="1"/>
          <p:nvPr/>
        </p:nvSpPr>
        <p:spPr>
          <a:xfrm>
            <a:off x="457200" y="1051560"/>
            <a:ext cx="4023360" cy="274320"/>
          </a:xfrm>
          <a:prstGeom prst="rect">
            <a:avLst/>
          </a:prstGeom>
          <a:noFill/>
          <a:ln/>
        </p:spPr>
        <p:txBody>
          <a:bodyPr wrap="square" lIns="0" tIns="0" rIns="0" bIns="0" rtlCol="0" anchor="t"/>
          <a:lstStyle/>
          <a:p>
            <a:pPr indent="0" marL="0">
              <a:buNone/>
            </a:pPr>
            <a:r>
              <a:rPr lang="en-US" sz="1400" b="1" dirty="0">
                <a:solidFill>
                  <a:schemeClr val="accent1"/>
                </a:solidFill>
              </a:rPr>
              <a:t>Dinov2-b.ipynb</a:t>
            </a:r>
            <a:endParaRPr lang="en-US" sz="1400" dirty="0"/>
          </a:p>
        </p:txBody>
      </p:sp>
      <p:sp>
        <p:nvSpPr>
          <p:cNvPr id="4" name="code box 1"/>
          <p:cNvSpPr/>
          <p:nvPr/>
        </p:nvSpPr>
        <p:spPr>
          <a:xfrm>
            <a:off x="457200" y="1371600"/>
            <a:ext cx="4023360" cy="2514600"/>
          </a:xfrm>
          <a:prstGeom prst="roundRect">
            <a:avLst>
              <a:gd name="adj" fmla="val 2182"/>
            </a:avLst>
          </a:prstGeom>
          <a:solidFill>
            <a:schemeClr val="tx2"/>
          </a:solidFill>
          <a:ln w="12700">
            <a:solidFill>
              <a:schemeClr val="tx2"/>
            </a:solidFill>
            <a:prstDash val="solid"/>
          </a:ln>
        </p:spPr>
      </p:sp>
      <p:sp>
        <p:nvSpPr>
          <p:cNvPr id="5" name="Text 3"/>
          <p:cNvSpPr txBox="1"/>
          <p:nvPr/>
        </p:nvSpPr>
        <p:spPr>
          <a:xfrm>
            <a:off x="594360" y="1463040"/>
            <a:ext cx="3749040" cy="233172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model = timm.create_model(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"vit_base_patch14_dinov2.lvd142m",</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pretrained=True, num_classes=0,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img_size=224)</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feats = model(batch)  # (N, 768), frozen</a:t>
            </a:r>
            <a:endParaRPr lang="en-US" sz="1000" dirty="0"/>
          </a:p>
          <a:p>
            <a:pPr indent="0" marL="0">
              <a:buNone/>
            </a:pP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scaler = StandardScaler().fit(X[tr])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clf = LogisticRegression(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max_iter=2000, C=1.0)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clf.fit(scaler.transform(X[tr]), y[tr])</a:t>
            </a:r>
            <a:endParaRPr lang="en-US" sz="1000" dirty="0"/>
          </a:p>
        </p:txBody>
      </p:sp>
      <p:sp>
        <p:nvSpPr>
          <p:cNvPr id="6" name="Text 4"/>
          <p:cNvSpPr txBox="1"/>
          <p:nvPr/>
        </p:nvSpPr>
        <p:spPr>
          <a:xfrm>
            <a:off x="4663440" y="1051560"/>
            <a:ext cx="4023360" cy="274320"/>
          </a:xfrm>
          <a:prstGeom prst="rect">
            <a:avLst/>
          </a:prstGeom>
          <a:noFill/>
          <a:ln/>
        </p:spPr>
        <p:txBody>
          <a:bodyPr wrap="square" lIns="0" tIns="0" rIns="0" bIns="0" rtlCol="0" anchor="t"/>
          <a:lstStyle/>
          <a:p>
            <a:pPr indent="0" marL="0">
              <a:buNone/>
            </a:pPr>
            <a:r>
              <a:rPr lang="en-US" sz="1400" b="1" dirty="0">
                <a:solidFill>
                  <a:schemeClr val="accent1"/>
                </a:solidFill>
              </a:rPr>
              <a:t>EfficientNetv2fold1.ipynb</a:t>
            </a:r>
            <a:endParaRPr lang="en-US" sz="1400" dirty="0"/>
          </a:p>
        </p:txBody>
      </p:sp>
      <p:sp>
        <p:nvSpPr>
          <p:cNvPr id="7" name="code box 2"/>
          <p:cNvSpPr/>
          <p:nvPr/>
        </p:nvSpPr>
        <p:spPr>
          <a:xfrm>
            <a:off x="4663440" y="1371600"/>
            <a:ext cx="4023360" cy="2514600"/>
          </a:xfrm>
          <a:prstGeom prst="roundRect">
            <a:avLst>
              <a:gd name="adj" fmla="val 2182"/>
            </a:avLst>
          </a:prstGeom>
          <a:solidFill>
            <a:schemeClr val="tx2"/>
          </a:solidFill>
          <a:ln w="12700">
            <a:solidFill>
              <a:schemeClr val="tx2"/>
            </a:solidFill>
            <a:prstDash val="solid"/>
          </a:ln>
        </p:spPr>
      </p:sp>
      <p:sp>
        <p:nvSpPr>
          <p:cNvPr id="8" name="Text 6"/>
          <p:cNvSpPr txBox="1"/>
          <p:nvPr/>
        </p:nvSpPr>
        <p:spPr>
          <a:xfrm>
            <a:off x="4800600" y="1463040"/>
            <a:ext cx="3749040" cy="233172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model = timm.create_model(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"tf_efficientnetv2_s.in21k_ft_in1k",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pretrained=True, num_classes=72,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drop_rate=0.2)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opt = AdamW(lr=3e-4, weight_decay=1e-2)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sched = OneCycleLR(opt, max_lr=3e-4,</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pct_start=0.1)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crit = CrossEntropyLoss(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label_smoothing=0.1)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fp16 autocast, 15 epochs, TTA</a:t>
            </a:r>
            <a:endParaRPr lang="en-US" sz="1000" dirty="0"/>
          </a:p>
        </p:txBody>
      </p:sp>
      <p:sp>
        <p:nvSpPr>
          <p:cNvPr id="9" name="Text 7"/>
          <p:cNvSpPr txBox="1"/>
          <p:nvPr/>
        </p:nvSpPr>
        <p:spPr>
          <a:xfrm>
            <a:off x="457200" y="4023360"/>
            <a:ext cx="8229600" cy="731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Both: pad to square, resize, normalise, predict the 1,179 test images, write image_id,animal_class</a:t>
            </a:r>
            <a:endParaRPr lang="en-US" sz="1300" dirty="0"/>
          </a:p>
          <a:p>
            <a:pPr marL="342900" indent="-342900">
              <a:spcAft>
                <a:spcPts val="600"/>
              </a:spcAft>
              <a:buSzPct val="100000"/>
              <a:buChar char="•"/>
            </a:pPr>
            <a:r>
              <a:rPr lang="en-US" sz="1200" dirty="0">
                <a:solidFill>
                  <a:schemeClr val="tx1"/>
                </a:solidFill>
              </a:rPr>
              <a:t>Both were checked on held-out folds before submission</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lIns="0" tIns="0" rIns="0" bIns="0" rtlCol="0" anchor="t"/>
          <a:lstStyle/>
          <a:p>
            <a:pPr indent="0" marL="0">
              <a:buNone/>
            </a:pPr>
            <a:r>
              <a:rPr lang="en-US" sz="3800" b="1" dirty="0">
                <a:solidFill>
                  <a:schemeClr val="bg1"/>
                </a:solidFill>
              </a:rPr>
              <a:t>Thank you. Questions?</a:t>
            </a:r>
            <a:endParaRPr lang="en-US" sz="3800" dirty="0"/>
          </a:p>
        </p:txBody>
      </p:sp>
      <p:sp>
        <p:nvSpPr>
          <p:cNvPr id="3" name="Text 1"/>
          <p:cNvSpPr txBox="1"/>
          <p:nvPr/>
        </p:nvSpPr>
        <p:spPr>
          <a:xfrm>
            <a:off x="548640" y="2743200"/>
            <a:ext cx="7772400" cy="548640"/>
          </a:xfrm>
          <a:prstGeom prst="rect">
            <a:avLst/>
          </a:prstGeom>
          <a:noFill/>
          <a:ln/>
        </p:spPr>
        <p:txBody>
          <a:bodyPr wrap="square" lIns="0" tIns="0" rIns="0" bIns="0" rtlCol="0" anchor="t"/>
          <a:lstStyle/>
          <a:p>
            <a:pPr indent="0" marL="0">
              <a:buNone/>
            </a:pPr>
            <a:r>
              <a:rPr lang="en-US" sz="1600" dirty="0">
                <a:solidFill>
                  <a:schemeClr val="accent2"/>
                </a:solidFill>
              </a:rPr>
              <a:t>Best models: DINOv2-B + logistic regression (0.9231) and EfficientNetV2-S fine-tune (0.9235)</a:t>
            </a:r>
            <a:endParaRPr lang="en-US" sz="1600" dirty="0"/>
          </a:p>
        </p:txBody>
      </p:sp>
      <p:sp>
        <p:nvSpPr>
          <p:cNvPr id="4" name="Text 2"/>
          <p:cNvSpPr txBox="1"/>
          <p:nvPr/>
        </p:nvSpPr>
        <p:spPr>
          <a:xfrm>
            <a:off x="548640" y="3566160"/>
            <a:ext cx="7772400" cy="365760"/>
          </a:xfrm>
          <a:prstGeom prst="rect">
            <a:avLst/>
          </a:prstGeom>
          <a:noFill/>
          <a:ln/>
        </p:spPr>
        <p:txBody>
          <a:bodyPr wrap="square" lIns="0" tIns="0" rIns="0" bIns="0" rtlCol="0" anchor="t"/>
          <a:lstStyle/>
          <a:p>
            <a:pPr indent="0" marL="0">
              <a:buNone/>
            </a:pPr>
            <a:r>
              <a:rPr lang="en-US" sz="1400" dirty="0">
                <a:solidFill>
                  <a:schemeClr val="bg1"/>
                </a:solidFill>
              </a:rPr>
              <a:t>Team The Yeagerists</a:t>
            </a:r>
            <a:endParaRPr lang="en-US" sz="1400" dirty="0"/>
          </a:p>
        </p:txBody>
      </p:sp>
    </p:spTree>
  </p:cSld>
  <p:clrMapOvr>
    <a:masterClrMapping/>
  </p:clrMapOvr>
</p:sld>
</file>

<file path=ppt/theme/theme1.xml><?xml version="1.0" encoding="utf-8"?>
<a:theme xmlns:a="http://schemas.openxmlformats.org/drawingml/2006/main" name="AnimalOverlay">
  <a:themeElements>
    <a:clrScheme name="AnimalOverlay">
      <a:dk1>
        <a:srgbClr val="1B2A41"/>
      </a:dk1>
      <a:lt1>
        <a:srgbClr val="FFFFFF"/>
      </a:lt1>
      <a:dk2>
        <a:srgbClr val="0B3C49"/>
      </a:dk2>
      <a:lt2>
        <a:srgbClr val="F6F1E9"/>
      </a:lt2>
      <a:accent1>
        <a:srgbClr val="0E7C86"/>
      </a:accent1>
      <a:accent2>
        <a:srgbClr val="F2994A"/>
      </a:accent2>
      <a:accent3>
        <a:srgbClr val="E4572E"/>
      </a:accent3>
      <a:accent4>
        <a:srgbClr val="6C5B7B"/>
      </a:accent4>
      <a:accent5>
        <a:srgbClr val="7CB518"/>
      </a:accent5>
      <a:accent6>
        <a:srgbClr val="9AA5B1"/>
      </a:accent6>
      <a:hlink>
        <a:srgbClr val="0E7C86"/>
      </a:hlink>
      <a:folHlink>
        <a:srgbClr val="6C5B7B"/>
      </a:folHlink>
    </a:clrScheme>
    <a:fontScheme name="AnimalOverla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of GOD 5.0 - Round 2</dc:title>
  <dc:subject>PptxGenJS Presentation</dc:subject>
  <dc:creator>The Yeagerists</dc:creator>
  <cp:lastModifiedBy>The Yeagerists</cp:lastModifiedBy>
  <cp:revision>1</cp:revision>
  <dcterms:created xsi:type="dcterms:W3CDTF">2026-10-11T07:12:15Z</dcterms:created>
  <dcterms:modified xsi:type="dcterms:W3CDTF">2026-10-11T07:12:15Z</dcterms:modified>
</cp:coreProperties>
</file>